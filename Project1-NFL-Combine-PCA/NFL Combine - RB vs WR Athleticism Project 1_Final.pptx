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6"/>
  </p:notesMasterIdLst>
  <p:sldIdLst>
    <p:sldId id="256" r:id="rId2"/>
    <p:sldId id="257" r:id="rId3"/>
    <p:sldId id="258" r:id="rId4"/>
    <p:sldId id="259" r:id="rId5"/>
  </p:sldIdLst>
  <p:sldSz cx="9144000" cy="5143500" type="screen16x9"/>
  <p:notesSz cx="6858000" cy="9144000"/>
  <p:embeddedFontLst>
    <p:embeddedFont>
      <p:font typeface="Lato" panose="020F0502020204030203" pitchFamily="34" charset="0"/>
      <p:regular r:id="rId7"/>
      <p:bold r:id="rId8"/>
      <p:italic r:id="rId9"/>
      <p:boldItalic r:id="rId10"/>
    </p:embeddedFont>
    <p:embeddedFont>
      <p:font typeface="Raleway" pitchFamily="2" charset="77"/>
      <p:regular r:id="rId11"/>
      <p:bold r:id="rId12"/>
      <p:italic r:id="rId13"/>
      <p:boldItalic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60" d="100"/>
          <a:sy n="160" d="100"/>
        </p:scale>
        <p:origin x="784" y="1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font" Target="fonts/font7.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font" Target="fonts/font1.fntdata"/><Relationship Id="rId12" Type="http://schemas.openxmlformats.org/officeDocument/2006/relationships/font" Target="fonts/font6.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font" Target="fonts/font3.fntdata"/><Relationship Id="rId14"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kaggle.com"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c9a24370e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c9a24370e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sz="1200">
                <a:solidFill>
                  <a:schemeClr val="dk1"/>
                </a:solidFill>
              </a:rPr>
              <a:t>The dataset chosen is sourced from </a:t>
            </a:r>
            <a:r>
              <a:rPr lang="en" sz="1200" u="sng">
                <a:solidFill>
                  <a:schemeClr val="dk1"/>
                </a:solidFill>
                <a:hlinkClick r:id="rId3">
                  <a:extLst>
                    <a:ext uri="{A12FA001-AC4F-418D-AE19-62706E023703}">
                      <ahyp:hlinkClr xmlns:ahyp="http://schemas.microsoft.com/office/drawing/2018/hyperlinkcolor" val="tx"/>
                    </a:ext>
                  </a:extLst>
                </a:hlinkClick>
              </a:rPr>
              <a:t>kaggle.com</a:t>
            </a:r>
            <a:r>
              <a:rPr lang="en" sz="1200">
                <a:solidFill>
                  <a:schemeClr val="dk1"/>
                </a:solidFill>
              </a:rPr>
              <a:t>. </a:t>
            </a:r>
            <a:endParaRPr sz="1200">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sz="1200">
                <a:solidFill>
                  <a:schemeClr val="dk1"/>
                </a:solidFill>
              </a:rPr>
              <a:t>The dataset has 325 players and 18 different variables including: Name, Position, School, Height, Weight, Hand Size, Arm Length, Wingspan, 40 Yard Dash, Bench Press, Vertical Jump, Broad Jump, 3-Cone Drill, 20 Yard Shuttle, Athleticism Score, Height (Numeric), Hand (Numeric), Arm (Numeric), and Wingspan (Numeric).</a:t>
            </a:r>
            <a:endParaRPr sz="1200">
              <a:solidFill>
                <a:schemeClr val="dk1"/>
              </a:solidFill>
            </a:endParaRPr>
          </a:p>
          <a:p>
            <a:pPr marL="0" lvl="0" indent="0" algn="l" rtl="0">
              <a:lnSpc>
                <a:spcPct val="100000"/>
              </a:lnSpc>
              <a:spcBef>
                <a:spcPts val="0"/>
              </a:spcBef>
              <a:spcAft>
                <a:spcPts val="0"/>
              </a:spcAft>
              <a:buNone/>
            </a:pPr>
            <a:endParaRPr sz="1200">
              <a:solidFill>
                <a:schemeClr val="dk1"/>
              </a:solidFill>
            </a:endParaRPr>
          </a:p>
          <a:p>
            <a:pPr marL="0" lvl="0" indent="0" algn="l" rtl="0">
              <a:lnSpc>
                <a:spcPct val="100000"/>
              </a:lnSpc>
              <a:spcBef>
                <a:spcPts val="0"/>
              </a:spcBef>
              <a:spcAft>
                <a:spcPts val="0"/>
              </a:spcAft>
              <a:buNone/>
            </a:pPr>
            <a:r>
              <a:rPr lang="en" sz="1200">
                <a:solidFill>
                  <a:schemeClr val="dk1"/>
                </a:solidFill>
              </a:rPr>
              <a:t>PCA = Principal Component Analysis </a:t>
            </a:r>
            <a:endParaRPr sz="1200">
              <a:solidFill>
                <a:schemeClr val="dk1"/>
              </a:solidFill>
            </a:endParaRPr>
          </a:p>
          <a:p>
            <a:pPr marL="457200" lvl="0" indent="-304800" algn="l" rtl="0">
              <a:lnSpc>
                <a:spcPct val="100000"/>
              </a:lnSpc>
              <a:spcBef>
                <a:spcPts val="0"/>
              </a:spcBef>
              <a:spcAft>
                <a:spcPts val="0"/>
              </a:spcAft>
              <a:buClr>
                <a:schemeClr val="dk1"/>
              </a:buClr>
              <a:buSzPts val="1200"/>
              <a:buFont typeface="Arial"/>
              <a:buChar char="●"/>
            </a:pPr>
            <a:r>
              <a:rPr lang="en" sz="1200">
                <a:solidFill>
                  <a:schemeClr val="dk1"/>
                </a:solidFill>
              </a:rPr>
              <a:t>PCA stands for principal component analysis which is a way to reduce the linearly independent vectors without drastically losing information. The data with a lot of features is analyzed to find the principal components, a few of the principal components are chosen to reduce dimensionality while keeping the information meaningful.</a:t>
            </a:r>
            <a:endParaRPr sz="1200">
              <a:solidFill>
                <a:schemeClr val="dk1"/>
              </a:solidFill>
            </a:endParaRPr>
          </a:p>
          <a:p>
            <a:pPr marL="0" lvl="0" indent="0" algn="l" rtl="0">
              <a:lnSpc>
                <a:spcPct val="100000"/>
              </a:lnSpc>
              <a:spcBef>
                <a:spcPts val="0"/>
              </a:spcBef>
              <a:spcAft>
                <a:spcPts val="0"/>
              </a:spcAft>
              <a:buNone/>
            </a:pPr>
            <a:r>
              <a:rPr lang="en" sz="1200">
                <a:solidFill>
                  <a:schemeClr val="dk1"/>
                </a:solidFill>
              </a:rPr>
              <a:t>Applying PCA to the NFL Combine Dataset</a:t>
            </a:r>
            <a:endParaRPr sz="1200">
              <a:solidFill>
                <a:schemeClr val="dk1"/>
              </a:solidFill>
            </a:endParaRPr>
          </a:p>
          <a:p>
            <a:pPr marL="457200" lvl="0" indent="-304800" algn="l" rtl="0">
              <a:lnSpc>
                <a:spcPct val="100000"/>
              </a:lnSpc>
              <a:spcBef>
                <a:spcPts val="0"/>
              </a:spcBef>
              <a:spcAft>
                <a:spcPts val="0"/>
              </a:spcAft>
              <a:buClr>
                <a:schemeClr val="dk1"/>
              </a:buClr>
              <a:buSzPts val="1200"/>
              <a:buFont typeface="Arial"/>
              <a:buChar char="●"/>
            </a:pPr>
            <a:r>
              <a:rPr lang="en" sz="1200">
                <a:solidFill>
                  <a:schemeClr val="dk1"/>
                </a:solidFill>
              </a:rPr>
              <a:t>PC1 represents the first principal component which is body size (including weight, height and hand size) </a:t>
            </a:r>
            <a:endParaRPr sz="1200">
              <a:solidFill>
                <a:schemeClr val="dk1"/>
              </a:solidFill>
            </a:endParaRPr>
          </a:p>
          <a:p>
            <a:pPr marL="914400" lvl="1" indent="-304800" algn="l" rtl="0">
              <a:lnSpc>
                <a:spcPct val="100000"/>
              </a:lnSpc>
              <a:spcBef>
                <a:spcPts val="0"/>
              </a:spcBef>
              <a:spcAft>
                <a:spcPts val="0"/>
              </a:spcAft>
              <a:buClr>
                <a:schemeClr val="dk1"/>
              </a:buClr>
              <a:buSzPts val="1200"/>
              <a:buFont typeface="Arial"/>
              <a:buChar char="○"/>
            </a:pPr>
            <a:r>
              <a:rPr lang="en" sz="1200">
                <a:solidFill>
                  <a:schemeClr val="dk1"/>
                </a:solidFill>
              </a:rPr>
              <a:t>Running backs (RBs) score higher on PC1, while wide receivers (WRs) score lower </a:t>
            </a:r>
            <a:endParaRPr sz="1200">
              <a:solidFill>
                <a:schemeClr val="dk1"/>
              </a:solidFill>
            </a:endParaRPr>
          </a:p>
          <a:p>
            <a:pPr marL="457200" lvl="0" indent="-304800" algn="l" rtl="0">
              <a:lnSpc>
                <a:spcPct val="100000"/>
              </a:lnSpc>
              <a:spcBef>
                <a:spcPts val="0"/>
              </a:spcBef>
              <a:spcAft>
                <a:spcPts val="0"/>
              </a:spcAft>
              <a:buClr>
                <a:schemeClr val="dk1"/>
              </a:buClr>
              <a:buSzPts val="1200"/>
              <a:buFont typeface="Arial"/>
              <a:buChar char="●"/>
            </a:pPr>
            <a:r>
              <a:rPr lang="en" sz="1200">
                <a:solidFill>
                  <a:schemeClr val="dk1"/>
                </a:solidFill>
              </a:rPr>
              <a:t>PC2 represents the second principal component which is  speed, in this case how fast the player can run the 40 yard dash </a:t>
            </a:r>
            <a:endParaRPr sz="1200">
              <a:solidFill>
                <a:schemeClr val="dk1"/>
              </a:solidFill>
            </a:endParaRPr>
          </a:p>
          <a:p>
            <a:pPr marL="914400" lvl="1" indent="-304800" algn="l" rtl="0">
              <a:lnSpc>
                <a:spcPct val="100000"/>
              </a:lnSpc>
              <a:spcBef>
                <a:spcPts val="0"/>
              </a:spcBef>
              <a:spcAft>
                <a:spcPts val="0"/>
              </a:spcAft>
              <a:buClr>
                <a:schemeClr val="dk1"/>
              </a:buClr>
              <a:buSzPts val="1200"/>
              <a:buFont typeface="Arial"/>
              <a:buChar char="○"/>
            </a:pPr>
            <a:r>
              <a:rPr lang="en" sz="1200">
                <a:solidFill>
                  <a:schemeClr val="dk1"/>
                </a:solidFill>
              </a:rPr>
              <a:t>Players with faster times score lower on PC2</a:t>
            </a:r>
            <a:endParaRPr sz="1200">
              <a:solidFill>
                <a:schemeClr val="dk1"/>
              </a:solidFill>
            </a:endParaRPr>
          </a:p>
          <a:p>
            <a:pPr marL="0" lvl="0" indent="0" algn="l" rtl="0">
              <a:lnSpc>
                <a:spcPct val="100000"/>
              </a:lnSpc>
              <a:spcBef>
                <a:spcPts val="0"/>
              </a:spcBef>
              <a:spcAft>
                <a:spcPts val="0"/>
              </a:spcAft>
              <a:buNone/>
            </a:pPr>
            <a:r>
              <a:rPr lang="en" sz="1200">
                <a:solidFill>
                  <a:schemeClr val="dk1"/>
                </a:solidFill>
              </a:rPr>
              <a:t>The table below represents that that PC1 explains 41.4% of the dataset’s variance whereas PC2 explains about 26% of the dataset’s variance, and combined PC1 and PC2 explain 67.4% of the dataset’s variance. </a:t>
            </a:r>
            <a:endParaRPr sz="1200">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c9a24370e8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c9a24370e8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Graph #1: Feature Distribution by Position (RB vs WR)</a:t>
            </a:r>
            <a:endParaRPr/>
          </a:p>
          <a:p>
            <a:pPr marL="0" lvl="0" indent="0" algn="l" rtl="0">
              <a:spcBef>
                <a:spcPts val="0"/>
              </a:spcBef>
              <a:spcAft>
                <a:spcPts val="0"/>
              </a:spcAft>
              <a:buNone/>
            </a:pPr>
            <a:r>
              <a:rPr lang="en">
                <a:solidFill>
                  <a:schemeClr val="dk1"/>
                </a:solidFill>
              </a:rPr>
              <a:t>These box plots compare Wide Receivers (WR) and Running Backs (RB) across four physical and performance features including weight (pounds), height (feet), hand size (inches) and 40 yard dash time (second).</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a:solidFill>
                  <a:schemeClr val="dk1"/>
                </a:solidFill>
              </a:rPr>
              <a:t>Graph #2: Feature Correlation Matrix - RB &amp; WR</a:t>
            </a:r>
            <a:endParaRPr>
              <a:solidFill>
                <a:schemeClr val="dk1"/>
              </a:solidFill>
            </a:endParaRPr>
          </a:p>
          <a:p>
            <a:pPr marL="0" lvl="0" indent="0" algn="l" rtl="0">
              <a:spcBef>
                <a:spcPts val="0"/>
              </a:spcBef>
              <a:spcAft>
                <a:spcPts val="0"/>
              </a:spcAft>
              <a:buNone/>
            </a:pPr>
            <a:r>
              <a:rPr lang="en" sz="1200">
                <a:solidFill>
                  <a:srgbClr val="273540"/>
                </a:solidFill>
              </a:rPr>
              <a:t>This feature correlation matrix shows how strongly each pair of variables moves together across RB and WR players. Values range from -1 to 1, if the value is positive that means the features increase together, if the value is negative that means one increases while the other decreases and if the value is near zero that means there is little or no relationship between the features. In this matrix we can see Height &amp; Hand Size have a value of 0.4 meaning they have a strong relationship so taller players tend to have larger hands.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
                <a:solidFill>
                  <a:schemeClr val="dk1"/>
                </a:solidFill>
              </a:rPr>
              <a:t>Graph #3: PCA - Explained Variance (RB vs WR)</a:t>
            </a:r>
            <a:endParaRPr>
              <a:solidFill>
                <a:schemeClr val="dk1"/>
              </a:solidFill>
            </a:endParaRPr>
          </a:p>
          <a:p>
            <a:pPr marL="0" lvl="0" indent="0" algn="l" rtl="0">
              <a:spcBef>
                <a:spcPts val="0"/>
              </a:spcBef>
              <a:spcAft>
                <a:spcPts val="0"/>
              </a:spcAft>
              <a:buNone/>
            </a:pPr>
            <a:r>
              <a:rPr lang="en">
                <a:solidFill>
                  <a:schemeClr val="dk1"/>
                </a:solidFill>
              </a:rPr>
              <a:t>The scree plot shows that PC1 explains the most variance in the dataset (~41%), followed by PC2 (~26%), PC3 (~18%), and PC4 (~14%), meaning the first two components capture the main patterns in the data. The cumulative variance plot shows that PC1 and PC2 together explain about 67% of the information, while adding PC3 increases this to about 85%, and all four components capture 100%. Overall, most meaningful variation is explained by the first two components, with PC3 adding useful detail and PC4 contributing the least.</a:t>
            </a:r>
            <a:endParaRPr>
              <a:solidFill>
                <a:schemeClr val="dk1"/>
              </a:solidFill>
            </a:endParaRPr>
          </a:p>
          <a:p>
            <a:pPr marL="0" lvl="0" indent="0" algn="l" rtl="0">
              <a:spcBef>
                <a:spcPts val="0"/>
              </a:spcBef>
              <a:spcAft>
                <a:spcPts val="0"/>
              </a:spcAft>
              <a:buNone/>
            </a:pPr>
            <a:endParaRPr/>
          </a:p>
          <a:p>
            <a:pPr marL="0" lvl="0" indent="0" algn="l" rtl="0">
              <a:spcBef>
                <a:spcPts val="0"/>
              </a:spcBef>
              <a:spcAft>
                <a:spcPts val="0"/>
              </a:spcAft>
              <a:buNone/>
            </a:pPr>
            <a:r>
              <a:rPr lang="en"/>
              <a:t>Graph #4: Feature Loadings Heatmap - RB vs WR</a:t>
            </a:r>
            <a:endParaRPr/>
          </a:p>
          <a:p>
            <a:pPr marL="0" lvl="0" indent="0" algn="l" rtl="0">
              <a:spcBef>
                <a:spcPts val="0"/>
              </a:spcBef>
              <a:spcAft>
                <a:spcPts val="0"/>
              </a:spcAft>
              <a:buNone/>
            </a:pPr>
            <a:r>
              <a:rPr lang="en">
                <a:solidFill>
                  <a:schemeClr val="dk1"/>
                </a:solidFill>
              </a:rPr>
              <a:t>The feature loadings heatmap shows how each original feature contributes to each principal component (values from −1 to 1). Positive loadings increase a player’s score on a PC, negative loadings decrease it, and near-zero loadings have minimal effect. In this case, we see PC1 represents body size (bigger, slower players score higher), while PC2 represents speed (measured by the 40-yard dash). The heatmap gives meaning to otherwise abstract PCA components so the results can be interpreted. The colors red (positive) show that feature pushes a player's score higher on that PC, blue (negative) show that feature pushes a player's score lower on that PC, lastly white/neutral show that feature has little influence on that PC.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endParaRPr sz="1000">
              <a:solidFill>
                <a:srgbClr val="7A7E85"/>
              </a:solidFill>
              <a:highlight>
                <a:srgbClr val="191A1C"/>
              </a:highlight>
              <a:latin typeface="Courier New"/>
              <a:ea typeface="Courier New"/>
              <a:cs typeface="Courier New"/>
              <a:sym typeface="Courier New"/>
            </a:endParaRPr>
          </a:p>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ca115355b2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ca115355b2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200" dirty="0">
                <a:solidFill>
                  <a:schemeClr val="dk1"/>
                </a:solidFill>
              </a:rPr>
              <a:t>Key takeaways:</a:t>
            </a:r>
            <a:endParaRPr sz="1200" dirty="0">
              <a:solidFill>
                <a:schemeClr val="dk1"/>
              </a:solidFill>
            </a:endParaRPr>
          </a:p>
          <a:p>
            <a:pPr marL="457200" lvl="0" indent="-304800" algn="l" rtl="0">
              <a:lnSpc>
                <a:spcPct val="100000"/>
              </a:lnSpc>
              <a:spcBef>
                <a:spcPts val="0"/>
              </a:spcBef>
              <a:spcAft>
                <a:spcPts val="0"/>
              </a:spcAft>
              <a:buClr>
                <a:schemeClr val="dk1"/>
              </a:buClr>
              <a:buSzPts val="1200"/>
              <a:buChar char="●"/>
            </a:pPr>
            <a:r>
              <a:rPr lang="en" sz="1200" dirty="0">
                <a:solidFill>
                  <a:schemeClr val="dk1"/>
                </a:solidFill>
              </a:rPr>
              <a:t>PC1, the player’s size explains 41.4% of the dataset’s variance </a:t>
            </a:r>
            <a:endParaRPr sz="1200" dirty="0">
              <a:solidFill>
                <a:schemeClr val="dk1"/>
              </a:solidFill>
            </a:endParaRPr>
          </a:p>
          <a:p>
            <a:pPr marL="457200" lvl="0" indent="-304800" algn="l" rtl="0">
              <a:lnSpc>
                <a:spcPct val="100000"/>
              </a:lnSpc>
              <a:spcBef>
                <a:spcPts val="0"/>
              </a:spcBef>
              <a:spcAft>
                <a:spcPts val="0"/>
              </a:spcAft>
              <a:buClr>
                <a:schemeClr val="dk1"/>
              </a:buClr>
              <a:buSzPts val="1200"/>
              <a:buChar char="●"/>
            </a:pPr>
            <a:r>
              <a:rPr lang="en" sz="1200" dirty="0">
                <a:solidFill>
                  <a:schemeClr val="dk1"/>
                </a:solidFill>
              </a:rPr>
              <a:t>PC2, the speed of the 40-yard dash, explains about 26% of the dataset’s variance</a:t>
            </a:r>
            <a:endParaRPr sz="1200" dirty="0">
              <a:solidFill>
                <a:schemeClr val="dk1"/>
              </a:solidFill>
            </a:endParaRPr>
          </a:p>
          <a:p>
            <a:pPr marL="457200" lvl="0" indent="-304800" algn="l" rtl="0">
              <a:lnSpc>
                <a:spcPct val="100000"/>
              </a:lnSpc>
              <a:spcBef>
                <a:spcPts val="0"/>
              </a:spcBef>
              <a:spcAft>
                <a:spcPts val="0"/>
              </a:spcAft>
              <a:buClr>
                <a:schemeClr val="dk1"/>
              </a:buClr>
              <a:buSzPts val="1200"/>
              <a:buChar char="●"/>
            </a:pPr>
            <a:r>
              <a:rPr lang="en" sz="1200" dirty="0">
                <a:solidFill>
                  <a:schemeClr val="dk1"/>
                </a:solidFill>
              </a:rPr>
              <a:t>Speed is Universal: The nearly identical average 40 Yard Dash times (4.48 vs 4.46 sec) is the most compelling result because it challenges the assumption that WRs are "the fast ones." Elite speed is simply required for both positions.</a:t>
            </a:r>
            <a:endParaRPr sz="1200" dirty="0">
              <a:solidFill>
                <a:schemeClr val="dk1"/>
              </a:solidFill>
            </a:endParaRPr>
          </a:p>
          <a:p>
            <a:pPr marL="457200" lvl="0" indent="-304800" algn="l" rtl="0">
              <a:lnSpc>
                <a:spcPct val="100000"/>
              </a:lnSpc>
              <a:spcBef>
                <a:spcPts val="0"/>
              </a:spcBef>
              <a:spcAft>
                <a:spcPts val="0"/>
              </a:spcAft>
              <a:buClr>
                <a:schemeClr val="dk1"/>
              </a:buClr>
              <a:buSzPts val="1200"/>
              <a:buChar char="●"/>
            </a:pPr>
            <a:r>
              <a:rPr lang="en" sz="1200" dirty="0">
                <a:solidFill>
                  <a:schemeClr val="dk1"/>
                </a:solidFill>
              </a:rPr>
              <a:t>The partial separation in PCA space is a meaningful finding. If RBs and WRs were perfectly separated, it would suggest they are completely different athletes. The overlap confirms the modern NFL reality of positionless skill players.</a:t>
            </a:r>
            <a:endParaRPr sz="1200" dirty="0">
              <a:solidFill>
                <a:schemeClr val="dk1"/>
              </a:solidFill>
            </a:endParaRPr>
          </a:p>
          <a:p>
            <a:pPr marL="457200" lvl="0" indent="-304800" algn="l" rtl="0">
              <a:lnSpc>
                <a:spcPct val="100000"/>
              </a:lnSpc>
              <a:spcBef>
                <a:spcPts val="0"/>
              </a:spcBef>
              <a:spcAft>
                <a:spcPts val="0"/>
              </a:spcAft>
              <a:buClr>
                <a:schemeClr val="dk1"/>
              </a:buClr>
              <a:buSzPts val="1200"/>
              <a:buChar char="●"/>
            </a:pPr>
            <a:r>
              <a:rPr lang="en" sz="1200" dirty="0">
                <a:solidFill>
                  <a:schemeClr val="dk1"/>
                </a:solidFill>
              </a:rPr>
              <a:t>All 4 features/components are needed to reach 90% variance, which tells us the 4 scouting features we chose are genuinely independent of each other and each one captures something the others do not.</a:t>
            </a:r>
            <a:endParaRPr sz="1200" dirty="0">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hyperlink" Target="http://kaggle.com"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1759975" y="1108550"/>
            <a:ext cx="7059000" cy="274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3880"/>
              <a:t>Project 1</a:t>
            </a:r>
            <a:endParaRPr sz="3880"/>
          </a:p>
          <a:p>
            <a:pPr marL="0" lvl="0" indent="0" algn="l" rtl="0">
              <a:spcBef>
                <a:spcPts val="0"/>
              </a:spcBef>
              <a:spcAft>
                <a:spcPts val="0"/>
              </a:spcAft>
              <a:buSzPts val="990"/>
              <a:buNone/>
            </a:pPr>
            <a:r>
              <a:rPr lang="en" sz="3880"/>
              <a:t>2025 NFL Combine </a:t>
            </a:r>
            <a:endParaRPr sz="3880"/>
          </a:p>
          <a:p>
            <a:pPr marL="0" lvl="0" indent="0" algn="l" rtl="0">
              <a:spcBef>
                <a:spcPts val="0"/>
              </a:spcBef>
              <a:spcAft>
                <a:spcPts val="0"/>
              </a:spcAft>
              <a:buSzPts val="990"/>
              <a:buNone/>
            </a:pPr>
            <a:r>
              <a:rPr lang="en" sz="3880"/>
              <a:t>Running Backs vs Wide Receivers Athleticism </a:t>
            </a:r>
            <a:endParaRPr sz="3880"/>
          </a:p>
        </p:txBody>
      </p:sp>
      <p:sp>
        <p:nvSpPr>
          <p:cNvPr id="87" name="Google Shape;87;p13"/>
          <p:cNvSpPr txBox="1">
            <a:spLocks noGrp="1"/>
          </p:cNvSpPr>
          <p:nvPr>
            <p:ph type="subTitle" idx="1"/>
          </p:nvPr>
        </p:nvSpPr>
        <p:spPr>
          <a:xfrm>
            <a:off x="5756825" y="3993925"/>
            <a:ext cx="3470700" cy="506100"/>
          </a:xfrm>
          <a:prstGeom prst="rect">
            <a:avLst/>
          </a:prstGeom>
        </p:spPr>
        <p:txBody>
          <a:bodyPr spcFirstLastPara="1" wrap="square" lIns="91425" tIns="91425" rIns="91425" bIns="91425" anchor="t" anchorCtr="0">
            <a:noAutofit/>
          </a:bodyPr>
          <a:lstStyle/>
          <a:p>
            <a:pPr marL="0" lvl="0" indent="0" algn="l" rtl="0">
              <a:lnSpc>
                <a:spcPct val="80000"/>
              </a:lnSpc>
              <a:spcBef>
                <a:spcPts val="0"/>
              </a:spcBef>
              <a:spcAft>
                <a:spcPts val="0"/>
              </a:spcAft>
              <a:buNone/>
            </a:pPr>
            <a:r>
              <a:rPr lang="en" sz="2100"/>
              <a:t>Minh Truong </a:t>
            </a:r>
            <a:endParaRPr sz="2100"/>
          </a:p>
          <a:p>
            <a:pPr marL="0" lvl="0" indent="0" algn="l" rtl="0">
              <a:lnSpc>
                <a:spcPct val="80000"/>
              </a:lnSpc>
              <a:spcBef>
                <a:spcPts val="0"/>
              </a:spcBef>
              <a:spcAft>
                <a:spcPts val="0"/>
              </a:spcAft>
              <a:buNone/>
            </a:pPr>
            <a:r>
              <a:rPr lang="en" sz="2100"/>
              <a:t>Mallie Lange</a:t>
            </a:r>
            <a:endParaRPr sz="2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516900" y="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Dataset Information + PCA Concept + Application </a:t>
            </a:r>
            <a:endParaRPr dirty="0"/>
          </a:p>
          <a:p>
            <a:pPr marL="0" lvl="0" indent="0" algn="l" rtl="0">
              <a:spcBef>
                <a:spcPts val="0"/>
              </a:spcBef>
              <a:spcAft>
                <a:spcPts val="0"/>
              </a:spcAft>
              <a:buNone/>
            </a:pPr>
            <a:r>
              <a:rPr lang="en" dirty="0"/>
              <a:t> </a:t>
            </a:r>
            <a:endParaRPr dirty="0"/>
          </a:p>
        </p:txBody>
      </p:sp>
      <p:pic>
        <p:nvPicPr>
          <p:cNvPr id="93" name="Google Shape;93;p14"/>
          <p:cNvPicPr preferRelativeResize="0"/>
          <p:nvPr/>
        </p:nvPicPr>
        <p:blipFill>
          <a:blip r:embed="rId3">
            <a:alphaModFix/>
          </a:blip>
          <a:stretch>
            <a:fillRect/>
          </a:stretch>
        </p:blipFill>
        <p:spPr>
          <a:xfrm>
            <a:off x="134325" y="3112200"/>
            <a:ext cx="3779502" cy="1326500"/>
          </a:xfrm>
          <a:prstGeom prst="rect">
            <a:avLst/>
          </a:prstGeom>
          <a:noFill/>
          <a:ln>
            <a:noFill/>
          </a:ln>
        </p:spPr>
      </p:pic>
      <p:sp>
        <p:nvSpPr>
          <p:cNvPr id="94" name="Google Shape;94;p14"/>
          <p:cNvSpPr txBox="1">
            <a:spLocks noGrp="1"/>
          </p:cNvSpPr>
          <p:nvPr>
            <p:ph type="body" idx="1"/>
          </p:nvPr>
        </p:nvSpPr>
        <p:spPr>
          <a:xfrm>
            <a:off x="3892100" y="787375"/>
            <a:ext cx="5137800" cy="41211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PCA = Principal Component Analysis </a:t>
            </a:r>
            <a:endParaRPr sz="1200">
              <a:solidFill>
                <a:srgbClr val="000000"/>
              </a:solidFill>
              <a:latin typeface="Arial"/>
              <a:ea typeface="Arial"/>
              <a:cs typeface="Arial"/>
              <a:sym typeface="Arial"/>
            </a:endParaRPr>
          </a:p>
          <a:p>
            <a:pPr marL="457200" lvl="0" indent="-304800" algn="l" rtl="0">
              <a:lnSpc>
                <a:spcPct val="100000"/>
              </a:lnSpc>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PCA stands for principal component analysis which is a way to reduce the linearly independent vectors without drastically losing information. The data with a lot of features is analyzed to find the principal components, a few of the principal components are chosen to reduce dimensionality while keeping the information meaningful.</a:t>
            </a:r>
            <a:endParaRPr sz="1200">
              <a:solidFill>
                <a:srgbClr val="000000"/>
              </a:solidFill>
              <a:latin typeface="Arial"/>
              <a:ea typeface="Arial"/>
              <a:cs typeface="Arial"/>
              <a:sym typeface="Arial"/>
            </a:endParaRPr>
          </a:p>
          <a:p>
            <a:pPr marL="457200" lvl="0" indent="0" algn="l" rtl="0">
              <a:lnSpc>
                <a:spcPct val="100000"/>
              </a:lnSpc>
              <a:spcBef>
                <a:spcPts val="0"/>
              </a:spcBef>
              <a:spcAft>
                <a:spcPts val="0"/>
              </a:spcAft>
              <a:buNone/>
            </a:pPr>
            <a:endParaRPr sz="1200">
              <a:solidFill>
                <a:srgbClr val="000000"/>
              </a:solidFill>
              <a:latin typeface="Arial"/>
              <a:ea typeface="Arial"/>
              <a:cs typeface="Arial"/>
              <a:sym typeface="Arial"/>
            </a:endParaRPr>
          </a:p>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Applying PCA to the NFL Combine Dataset</a:t>
            </a:r>
            <a:endParaRPr sz="1200">
              <a:solidFill>
                <a:srgbClr val="000000"/>
              </a:solidFill>
              <a:latin typeface="Arial"/>
              <a:ea typeface="Arial"/>
              <a:cs typeface="Arial"/>
              <a:sym typeface="Arial"/>
            </a:endParaRPr>
          </a:p>
          <a:p>
            <a:pPr marL="457200" lvl="0" indent="-304800" algn="l" rtl="0">
              <a:lnSpc>
                <a:spcPct val="100000"/>
              </a:lnSpc>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PC1 represents the first principal component which is body size (including weight, height and hand size) </a:t>
            </a:r>
            <a:endParaRPr sz="1200">
              <a:solidFill>
                <a:srgbClr val="000000"/>
              </a:solidFill>
              <a:latin typeface="Arial"/>
              <a:ea typeface="Arial"/>
              <a:cs typeface="Arial"/>
              <a:sym typeface="Arial"/>
            </a:endParaRPr>
          </a:p>
          <a:p>
            <a:pPr marL="457200" lvl="0" indent="-304800" algn="l" rtl="0">
              <a:lnSpc>
                <a:spcPct val="100000"/>
              </a:lnSpc>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PC2 represents the second principal component which is speed, in this case how fast the player can run the 40 yard dash </a:t>
            </a:r>
            <a:endParaRPr sz="1200">
              <a:solidFill>
                <a:srgbClr val="000000"/>
              </a:solidFill>
              <a:latin typeface="Arial"/>
              <a:ea typeface="Arial"/>
              <a:cs typeface="Arial"/>
              <a:sym typeface="Arial"/>
            </a:endParaRPr>
          </a:p>
          <a:p>
            <a:pPr marL="457200" lvl="0" indent="0" algn="l" rtl="0">
              <a:lnSpc>
                <a:spcPct val="100000"/>
              </a:lnSpc>
              <a:spcBef>
                <a:spcPts val="0"/>
              </a:spcBef>
              <a:spcAft>
                <a:spcPts val="0"/>
              </a:spcAft>
              <a:buNone/>
            </a:pPr>
            <a:endParaRPr sz="1200">
              <a:solidFill>
                <a:srgbClr val="000000"/>
              </a:solidFill>
              <a:latin typeface="Arial"/>
              <a:ea typeface="Arial"/>
              <a:cs typeface="Arial"/>
              <a:sym typeface="Arial"/>
            </a:endParaRPr>
          </a:p>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The table below represents that that PC1 explains 41.4% of the dataset’s variance whereas PC2 explains about 26% of the dataset’s variance, and combined PC1 and PC2 explain 67.4% of the dataset’s variance. </a:t>
            </a:r>
            <a:endParaRPr sz="1200">
              <a:solidFill>
                <a:srgbClr val="000000"/>
              </a:solidFill>
              <a:latin typeface="Arial"/>
              <a:ea typeface="Arial"/>
              <a:cs typeface="Arial"/>
              <a:sym typeface="Arial"/>
            </a:endParaRPr>
          </a:p>
        </p:txBody>
      </p:sp>
      <p:sp>
        <p:nvSpPr>
          <p:cNvPr id="95" name="Google Shape;95;p14"/>
          <p:cNvSpPr/>
          <p:nvPr/>
        </p:nvSpPr>
        <p:spPr>
          <a:xfrm>
            <a:off x="672775" y="1073225"/>
            <a:ext cx="1292400" cy="3972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96" name="Google Shape;96;p14"/>
          <p:cNvSpPr txBox="1">
            <a:spLocks noGrp="1"/>
          </p:cNvSpPr>
          <p:nvPr>
            <p:ph type="body" idx="1"/>
          </p:nvPr>
        </p:nvSpPr>
        <p:spPr>
          <a:xfrm>
            <a:off x="134325" y="877825"/>
            <a:ext cx="3666900" cy="248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a:solidFill>
                  <a:srgbClr val="000000"/>
                </a:solidFill>
                <a:latin typeface="Arial"/>
                <a:ea typeface="Arial"/>
                <a:cs typeface="Arial"/>
                <a:sym typeface="Arial"/>
              </a:rPr>
              <a:t>The dataset chosen is sourced from </a:t>
            </a:r>
            <a:r>
              <a:rPr lang="en" sz="1200" u="sng">
                <a:solidFill>
                  <a:srgbClr val="000000"/>
                </a:solidFill>
                <a:latin typeface="Arial"/>
                <a:ea typeface="Arial"/>
                <a:cs typeface="Arial"/>
                <a:sym typeface="Arial"/>
                <a:hlinkClick r:id="rId4">
                  <a:extLst>
                    <a:ext uri="{A12FA001-AC4F-418D-AE19-62706E023703}">
                      <ahyp:hlinkClr xmlns:ahyp="http://schemas.microsoft.com/office/drawing/2018/hyperlinkcolor" val="tx"/>
                    </a:ext>
                  </a:extLst>
                </a:hlinkClick>
              </a:rPr>
              <a:t>kaggle.com</a:t>
            </a:r>
            <a:r>
              <a:rPr lang="en" sz="1200">
                <a:solidFill>
                  <a:srgbClr val="000000"/>
                </a:solidFill>
                <a:latin typeface="Arial"/>
                <a:ea typeface="Arial"/>
                <a:cs typeface="Arial"/>
                <a:sym typeface="Arial"/>
              </a:rPr>
              <a:t>. </a:t>
            </a:r>
            <a:endParaRPr sz="1200">
              <a:solidFill>
                <a:srgbClr val="000000"/>
              </a:solidFill>
              <a:latin typeface="Arial"/>
              <a:ea typeface="Arial"/>
              <a:cs typeface="Arial"/>
              <a:sym typeface="Arial"/>
            </a:endParaRPr>
          </a:p>
          <a:p>
            <a:pPr marL="0" lvl="0" indent="0" algn="l" rtl="0">
              <a:spcBef>
                <a:spcPts val="1200"/>
              </a:spcBef>
              <a:spcAft>
                <a:spcPts val="1200"/>
              </a:spcAft>
              <a:buNone/>
            </a:pPr>
            <a:r>
              <a:rPr lang="en" sz="1200">
                <a:solidFill>
                  <a:srgbClr val="000000"/>
                </a:solidFill>
                <a:latin typeface="Arial"/>
                <a:ea typeface="Arial"/>
                <a:cs typeface="Arial"/>
                <a:sym typeface="Arial"/>
              </a:rPr>
              <a:t>There are 325 players  each with 18 different variables including: Name, Position, School, Height, Weight, Hand Size, Arm Length, Wingspan, 40 Yard Dash, Bench Press, Vertical Jump, Broad Jump, 3-Cone Drill, 20 Yard Shuttle, Athleticism Score, Height (Numeric), Hand (Numeric), Arm (Numeric), and Wingspan (Numeric). </a:t>
            </a:r>
            <a:endParaRPr sz="1200">
              <a:solidFill>
                <a:srgbClr val="000000"/>
              </a:solidFill>
              <a:latin typeface="Arial"/>
              <a:ea typeface="Arial"/>
              <a:cs typeface="Arial"/>
              <a:sym typeface="Arial"/>
            </a:endParaRPr>
          </a:p>
        </p:txBody>
      </p:sp>
      <p:pic>
        <p:nvPicPr>
          <p:cNvPr id="97" name="Google Shape;97;p14" title="Screenshot 2026-02-19 at 7.04.03 PM.png"/>
          <p:cNvPicPr preferRelativeResize="0"/>
          <p:nvPr/>
        </p:nvPicPr>
        <p:blipFill>
          <a:blip r:embed="rId5">
            <a:alphaModFix/>
          </a:blip>
          <a:stretch>
            <a:fillRect/>
          </a:stretch>
        </p:blipFill>
        <p:spPr>
          <a:xfrm>
            <a:off x="4647925" y="4220025"/>
            <a:ext cx="3286371" cy="5352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pic>
        <p:nvPicPr>
          <p:cNvPr id="103" name="Google Shape;103;p15" title="Screenshot 2026-02-19 at 7.02.22 PM.png"/>
          <p:cNvPicPr preferRelativeResize="0"/>
          <p:nvPr/>
        </p:nvPicPr>
        <p:blipFill>
          <a:blip r:embed="rId3">
            <a:alphaModFix/>
          </a:blip>
          <a:stretch>
            <a:fillRect/>
          </a:stretch>
        </p:blipFill>
        <p:spPr>
          <a:xfrm>
            <a:off x="145875" y="839842"/>
            <a:ext cx="4926551" cy="1760850"/>
          </a:xfrm>
          <a:prstGeom prst="rect">
            <a:avLst/>
          </a:prstGeom>
          <a:noFill/>
          <a:ln>
            <a:noFill/>
          </a:ln>
        </p:spPr>
      </p:pic>
      <p:pic>
        <p:nvPicPr>
          <p:cNvPr id="104" name="Google Shape;104;p15" title="Screenshot 2026-02-19 at 7.02.35 PM.png"/>
          <p:cNvPicPr preferRelativeResize="0"/>
          <p:nvPr/>
        </p:nvPicPr>
        <p:blipFill>
          <a:blip r:embed="rId4">
            <a:alphaModFix/>
          </a:blip>
          <a:stretch>
            <a:fillRect/>
          </a:stretch>
        </p:blipFill>
        <p:spPr>
          <a:xfrm>
            <a:off x="345850" y="2873525"/>
            <a:ext cx="2499025" cy="2175574"/>
          </a:xfrm>
          <a:prstGeom prst="rect">
            <a:avLst/>
          </a:prstGeom>
          <a:noFill/>
          <a:ln>
            <a:noFill/>
          </a:ln>
        </p:spPr>
      </p:pic>
      <p:pic>
        <p:nvPicPr>
          <p:cNvPr id="105" name="Google Shape;105;p15" title="Screenshot 2026-02-19 at 7.04.38 PM.png"/>
          <p:cNvPicPr preferRelativeResize="0"/>
          <p:nvPr/>
        </p:nvPicPr>
        <p:blipFill>
          <a:blip r:embed="rId5">
            <a:alphaModFix/>
          </a:blip>
          <a:stretch>
            <a:fillRect/>
          </a:stretch>
        </p:blipFill>
        <p:spPr>
          <a:xfrm>
            <a:off x="5188150" y="928463"/>
            <a:ext cx="3757998" cy="1411075"/>
          </a:xfrm>
          <a:prstGeom prst="rect">
            <a:avLst/>
          </a:prstGeom>
          <a:noFill/>
          <a:ln>
            <a:noFill/>
          </a:ln>
        </p:spPr>
      </p:pic>
      <p:pic>
        <p:nvPicPr>
          <p:cNvPr id="106" name="Google Shape;106;p15" title="Screenshot 2026-02-19 at 7.06.20 PM.png"/>
          <p:cNvPicPr preferRelativeResize="0"/>
          <p:nvPr/>
        </p:nvPicPr>
        <p:blipFill>
          <a:blip r:embed="rId6">
            <a:alphaModFix/>
          </a:blip>
          <a:stretch>
            <a:fillRect/>
          </a:stretch>
        </p:blipFill>
        <p:spPr>
          <a:xfrm>
            <a:off x="3823500" y="2757700"/>
            <a:ext cx="5236449" cy="2291399"/>
          </a:xfrm>
          <a:prstGeom prst="rect">
            <a:avLst/>
          </a:prstGeom>
          <a:noFill/>
          <a:ln>
            <a:noFill/>
          </a:ln>
        </p:spPr>
      </p:pic>
      <p:sp>
        <p:nvSpPr>
          <p:cNvPr id="107" name="Google Shape;107;p15"/>
          <p:cNvSpPr txBox="1"/>
          <p:nvPr/>
        </p:nvSpPr>
        <p:spPr>
          <a:xfrm>
            <a:off x="421050" y="545750"/>
            <a:ext cx="1536300" cy="20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t>Graph #1</a:t>
            </a:r>
            <a:endParaRPr sz="1200"/>
          </a:p>
        </p:txBody>
      </p:sp>
      <p:sp>
        <p:nvSpPr>
          <p:cNvPr id="108" name="Google Shape;108;p15"/>
          <p:cNvSpPr txBox="1"/>
          <p:nvPr/>
        </p:nvSpPr>
        <p:spPr>
          <a:xfrm>
            <a:off x="5295925" y="618950"/>
            <a:ext cx="1536300" cy="20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t>Graph #3</a:t>
            </a:r>
            <a:endParaRPr sz="1200"/>
          </a:p>
        </p:txBody>
      </p:sp>
      <p:sp>
        <p:nvSpPr>
          <p:cNvPr id="109" name="Google Shape;109;p15"/>
          <p:cNvSpPr txBox="1"/>
          <p:nvPr/>
        </p:nvSpPr>
        <p:spPr>
          <a:xfrm>
            <a:off x="270675" y="2591525"/>
            <a:ext cx="1536300" cy="20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t>Graph #2</a:t>
            </a:r>
            <a:endParaRPr sz="1200"/>
          </a:p>
        </p:txBody>
      </p:sp>
      <p:sp>
        <p:nvSpPr>
          <p:cNvPr id="110" name="Google Shape;110;p15"/>
          <p:cNvSpPr txBox="1"/>
          <p:nvPr/>
        </p:nvSpPr>
        <p:spPr>
          <a:xfrm>
            <a:off x="5188150" y="2469300"/>
            <a:ext cx="1536300" cy="20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t>Graph #4</a:t>
            </a:r>
            <a:endParaRPr sz="1200"/>
          </a:p>
        </p:txBody>
      </p:sp>
      <p:sp>
        <p:nvSpPr>
          <p:cNvPr id="7" name="Title 6">
            <a:extLst>
              <a:ext uri="{FF2B5EF4-FFF2-40B4-BE49-F238E27FC236}">
                <a16:creationId xmlns:a16="http://schemas.microsoft.com/office/drawing/2014/main" id="{3EB367FF-0326-5AD1-C61A-E1B2B6DED6E4}"/>
              </a:ext>
            </a:extLst>
          </p:cNvPr>
          <p:cNvSpPr>
            <a:spLocks noGrp="1"/>
          </p:cNvSpPr>
          <p:nvPr>
            <p:ph type="title"/>
          </p:nvPr>
        </p:nvSpPr>
        <p:spPr/>
        <p:txBody>
          <a:bodyPr>
            <a:normAutofit fontScale="90000"/>
          </a:bodyPr>
          <a:lstStyle/>
          <a:p>
            <a:endParaRPr lang="en-US"/>
          </a:p>
        </p:txBody>
      </p:sp>
      <p:sp>
        <p:nvSpPr>
          <p:cNvPr id="8" name="Google Shape;92;p14">
            <a:extLst>
              <a:ext uri="{FF2B5EF4-FFF2-40B4-BE49-F238E27FC236}">
                <a16:creationId xmlns:a16="http://schemas.microsoft.com/office/drawing/2014/main" id="{73941B5B-CBBF-262B-BF97-2C16A7AA3FCA}"/>
              </a:ext>
            </a:extLst>
          </p:cNvPr>
          <p:cNvSpPr txBox="1">
            <a:spLocks/>
          </p:cNvSpPr>
          <p:nvPr/>
        </p:nvSpPr>
        <p:spPr>
          <a:xfrm>
            <a:off x="516900" y="0"/>
            <a:ext cx="7688700" cy="5352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600"/>
              <a:buFont typeface="Raleway"/>
              <a:buNone/>
              <a:defRPr sz="2600" b="1" i="0" u="none" strike="noStrike" cap="none">
                <a:solidFill>
                  <a:schemeClr val="dk2"/>
                </a:solidFill>
                <a:latin typeface="Raleway"/>
                <a:ea typeface="Raleway"/>
                <a:cs typeface="Raleway"/>
                <a:sym typeface="Raleway"/>
              </a:defRPr>
            </a:lvl9pPr>
          </a:lstStyle>
          <a:p>
            <a:r>
              <a:rPr lang="en-US" dirty="0"/>
              <a:t>Graphs + Visualization </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6"/>
          <p:cNvSpPr txBox="1">
            <a:spLocks noGrp="1"/>
          </p:cNvSpPr>
          <p:nvPr>
            <p:ph type="title"/>
          </p:nvPr>
        </p:nvSpPr>
        <p:spPr>
          <a:xfrm>
            <a:off x="612000" y="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Conclusion + Key Takeaways</a:t>
            </a:r>
            <a:endParaRPr dirty="0"/>
          </a:p>
        </p:txBody>
      </p:sp>
      <p:sp>
        <p:nvSpPr>
          <p:cNvPr id="116" name="Google Shape;116;p16"/>
          <p:cNvSpPr/>
          <p:nvPr/>
        </p:nvSpPr>
        <p:spPr>
          <a:xfrm>
            <a:off x="522450" y="712950"/>
            <a:ext cx="1761600" cy="7383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7" name="Google Shape;117;p16"/>
          <p:cNvSpPr txBox="1">
            <a:spLocks noGrp="1"/>
          </p:cNvSpPr>
          <p:nvPr>
            <p:ph type="body" idx="1"/>
          </p:nvPr>
        </p:nvSpPr>
        <p:spPr>
          <a:xfrm>
            <a:off x="359775" y="1184550"/>
            <a:ext cx="4060200" cy="37320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PC1 = Body Size Axis </a:t>
            </a:r>
            <a:endParaRPr sz="1200">
              <a:solidFill>
                <a:srgbClr val="000000"/>
              </a:solidFill>
              <a:latin typeface="Arial"/>
              <a:ea typeface="Arial"/>
              <a:cs typeface="Arial"/>
              <a:sym typeface="Arial"/>
            </a:endParaRPr>
          </a:p>
          <a:p>
            <a:pPr marL="457200" lvl="0" indent="-311150" algn="l" rtl="0">
              <a:lnSpc>
                <a:spcPct val="100000"/>
              </a:lnSpc>
              <a:spcBef>
                <a:spcPts val="0"/>
              </a:spcBef>
              <a:spcAft>
                <a:spcPts val="0"/>
              </a:spcAft>
              <a:buClr>
                <a:srgbClr val="000000"/>
              </a:buClr>
              <a:buSzPts val="1300"/>
              <a:buFont typeface="Arial"/>
              <a:buChar char="●"/>
            </a:pPr>
            <a:r>
              <a:rPr lang="en" sz="1200">
                <a:solidFill>
                  <a:srgbClr val="000000"/>
                </a:solidFill>
                <a:latin typeface="Arial"/>
                <a:ea typeface="Arial"/>
                <a:cs typeface="Arial"/>
                <a:sym typeface="Arial"/>
              </a:rPr>
              <a:t>41.4% variance.</a:t>
            </a:r>
            <a:endParaRPr sz="1200">
              <a:solidFill>
                <a:srgbClr val="000000"/>
              </a:solidFill>
              <a:latin typeface="Arial"/>
              <a:ea typeface="Arial"/>
              <a:cs typeface="Arial"/>
              <a:sym typeface="Arial"/>
            </a:endParaRPr>
          </a:p>
          <a:p>
            <a:pPr marL="457200" lvl="0" indent="-311150" algn="l" rtl="0">
              <a:lnSpc>
                <a:spcPct val="100000"/>
              </a:lnSpc>
              <a:spcBef>
                <a:spcPts val="0"/>
              </a:spcBef>
              <a:spcAft>
                <a:spcPts val="0"/>
              </a:spcAft>
              <a:buClr>
                <a:srgbClr val="000000"/>
              </a:buClr>
              <a:buSzPts val="1300"/>
              <a:buFont typeface="Arial"/>
              <a:buChar char="●"/>
            </a:pPr>
            <a:r>
              <a:rPr lang="en" sz="1200">
                <a:solidFill>
                  <a:srgbClr val="000000"/>
                </a:solidFill>
                <a:latin typeface="Arial"/>
                <a:ea typeface="Arial"/>
                <a:cs typeface="Arial"/>
                <a:sym typeface="Arial"/>
              </a:rPr>
              <a:t>Weight, Height &amp; Hand Size</a:t>
            </a:r>
            <a:endParaRPr sz="1200">
              <a:solidFill>
                <a:srgbClr val="000000"/>
              </a:solidFill>
              <a:latin typeface="Arial"/>
              <a:ea typeface="Arial"/>
              <a:cs typeface="Arial"/>
              <a:sym typeface="Arial"/>
            </a:endParaRPr>
          </a:p>
          <a:p>
            <a:pPr marL="457200" lvl="0" indent="-311150" algn="l" rtl="0">
              <a:lnSpc>
                <a:spcPct val="100000"/>
              </a:lnSpc>
              <a:spcBef>
                <a:spcPts val="0"/>
              </a:spcBef>
              <a:spcAft>
                <a:spcPts val="0"/>
              </a:spcAft>
              <a:buClr>
                <a:srgbClr val="000000"/>
              </a:buClr>
              <a:buSzPts val="1300"/>
              <a:buFont typeface="Arial"/>
              <a:buChar char="●"/>
            </a:pPr>
            <a:r>
              <a:rPr lang="en" sz="1200">
                <a:solidFill>
                  <a:srgbClr val="000000"/>
                </a:solidFill>
                <a:latin typeface="Arial"/>
                <a:ea typeface="Arial"/>
                <a:cs typeface="Arial"/>
                <a:sym typeface="Arial"/>
              </a:rPr>
              <a:t>RBs score higher (heavier, more compact frame)</a:t>
            </a:r>
            <a:endParaRPr sz="1200">
              <a:solidFill>
                <a:srgbClr val="000000"/>
              </a:solidFill>
              <a:latin typeface="Arial"/>
              <a:ea typeface="Arial"/>
              <a:cs typeface="Arial"/>
              <a:sym typeface="Arial"/>
            </a:endParaRPr>
          </a:p>
          <a:p>
            <a:pPr marL="0" lvl="0" indent="0" algn="l" rtl="0">
              <a:lnSpc>
                <a:spcPct val="100000"/>
              </a:lnSpc>
              <a:spcBef>
                <a:spcPts val="0"/>
              </a:spcBef>
              <a:spcAft>
                <a:spcPts val="0"/>
              </a:spcAft>
              <a:buNone/>
            </a:pPr>
            <a:endParaRPr sz="1200">
              <a:solidFill>
                <a:srgbClr val="000000"/>
              </a:solidFill>
              <a:latin typeface="Arial"/>
              <a:ea typeface="Arial"/>
              <a:cs typeface="Arial"/>
              <a:sym typeface="Arial"/>
            </a:endParaRPr>
          </a:p>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PC2 = Speed Axis </a:t>
            </a:r>
            <a:endParaRPr sz="1200">
              <a:solidFill>
                <a:srgbClr val="000000"/>
              </a:solidFill>
              <a:latin typeface="Arial"/>
              <a:ea typeface="Arial"/>
              <a:cs typeface="Arial"/>
              <a:sym typeface="Arial"/>
            </a:endParaRPr>
          </a:p>
          <a:p>
            <a:pPr marL="457200" lvl="0" indent="-311150" algn="l" rtl="0">
              <a:lnSpc>
                <a:spcPct val="100000"/>
              </a:lnSpc>
              <a:spcBef>
                <a:spcPts val="0"/>
              </a:spcBef>
              <a:spcAft>
                <a:spcPts val="0"/>
              </a:spcAft>
              <a:buClr>
                <a:srgbClr val="000000"/>
              </a:buClr>
              <a:buSzPts val="1300"/>
              <a:buFont typeface="Arial"/>
              <a:buChar char="●"/>
            </a:pPr>
            <a:r>
              <a:rPr lang="en" sz="1200">
                <a:solidFill>
                  <a:srgbClr val="000000"/>
                </a:solidFill>
                <a:latin typeface="Arial"/>
                <a:ea typeface="Arial"/>
                <a:cs typeface="Arial"/>
                <a:sym typeface="Arial"/>
              </a:rPr>
              <a:t>26.0% variance.</a:t>
            </a:r>
            <a:endParaRPr sz="1200">
              <a:solidFill>
                <a:srgbClr val="000000"/>
              </a:solidFill>
              <a:latin typeface="Arial"/>
              <a:ea typeface="Arial"/>
              <a:cs typeface="Arial"/>
              <a:sym typeface="Arial"/>
            </a:endParaRPr>
          </a:p>
          <a:p>
            <a:pPr marL="457200" lvl="0" indent="-311150" algn="l" rtl="0">
              <a:lnSpc>
                <a:spcPct val="100000"/>
              </a:lnSpc>
              <a:spcBef>
                <a:spcPts val="0"/>
              </a:spcBef>
              <a:spcAft>
                <a:spcPts val="0"/>
              </a:spcAft>
              <a:buClr>
                <a:srgbClr val="000000"/>
              </a:buClr>
              <a:buSzPts val="1300"/>
              <a:buFont typeface="Arial"/>
              <a:buChar char="●"/>
            </a:pPr>
            <a:r>
              <a:rPr lang="en" sz="1200">
                <a:solidFill>
                  <a:srgbClr val="000000"/>
                </a:solidFill>
                <a:latin typeface="Arial"/>
                <a:ea typeface="Arial"/>
                <a:cs typeface="Arial"/>
                <a:sym typeface="Arial"/>
              </a:rPr>
              <a:t>40 Yard Dash time</a:t>
            </a:r>
            <a:endParaRPr sz="1200">
              <a:solidFill>
                <a:srgbClr val="000000"/>
              </a:solidFill>
              <a:latin typeface="Arial"/>
              <a:ea typeface="Arial"/>
              <a:cs typeface="Arial"/>
              <a:sym typeface="Arial"/>
            </a:endParaRPr>
          </a:p>
          <a:p>
            <a:pPr marL="457200" lvl="0" indent="-311150" algn="l" rtl="0">
              <a:lnSpc>
                <a:spcPct val="100000"/>
              </a:lnSpc>
              <a:spcBef>
                <a:spcPts val="0"/>
              </a:spcBef>
              <a:spcAft>
                <a:spcPts val="0"/>
              </a:spcAft>
              <a:buClr>
                <a:srgbClr val="000000"/>
              </a:buClr>
              <a:buSzPts val="1300"/>
              <a:buFont typeface="Arial"/>
              <a:buChar char="●"/>
            </a:pPr>
            <a:r>
              <a:rPr lang="en" sz="1200">
                <a:solidFill>
                  <a:srgbClr val="000000"/>
                </a:solidFill>
                <a:latin typeface="Arial"/>
                <a:ea typeface="Arial"/>
                <a:cs typeface="Arial"/>
                <a:sym typeface="Arial"/>
              </a:rPr>
              <a:t>Separates the fastest players regardless of size</a:t>
            </a:r>
            <a:endParaRPr sz="1200">
              <a:solidFill>
                <a:srgbClr val="000000"/>
              </a:solidFill>
              <a:latin typeface="Arial"/>
              <a:ea typeface="Arial"/>
              <a:cs typeface="Arial"/>
              <a:sym typeface="Arial"/>
            </a:endParaRPr>
          </a:p>
          <a:p>
            <a:pPr marL="0" lvl="0" indent="0" algn="l" rtl="0">
              <a:lnSpc>
                <a:spcPct val="100000"/>
              </a:lnSpc>
              <a:spcBef>
                <a:spcPts val="0"/>
              </a:spcBef>
              <a:spcAft>
                <a:spcPts val="0"/>
              </a:spcAft>
              <a:buNone/>
            </a:pPr>
            <a:endParaRPr sz="1200">
              <a:solidFill>
                <a:srgbClr val="000000"/>
              </a:solidFill>
              <a:latin typeface="Arial"/>
              <a:ea typeface="Arial"/>
              <a:cs typeface="Arial"/>
              <a:sym typeface="Arial"/>
            </a:endParaRPr>
          </a:p>
          <a:p>
            <a:pPr marL="0" lvl="0" indent="0" algn="l" rtl="0">
              <a:lnSpc>
                <a:spcPct val="100000"/>
              </a:lnSpc>
              <a:spcBef>
                <a:spcPts val="0"/>
              </a:spcBef>
              <a:spcAft>
                <a:spcPts val="0"/>
              </a:spcAft>
              <a:buNone/>
            </a:pPr>
            <a:r>
              <a:rPr lang="en" sz="1200">
                <a:solidFill>
                  <a:srgbClr val="000000"/>
                </a:solidFill>
                <a:latin typeface="Arial"/>
                <a:ea typeface="Arial"/>
                <a:cs typeface="Arial"/>
                <a:sym typeface="Arial"/>
              </a:rPr>
              <a:t>Speed is Universal </a:t>
            </a:r>
            <a:endParaRPr sz="1200">
              <a:solidFill>
                <a:srgbClr val="000000"/>
              </a:solidFill>
              <a:latin typeface="Arial"/>
              <a:ea typeface="Arial"/>
              <a:cs typeface="Arial"/>
              <a:sym typeface="Arial"/>
            </a:endParaRPr>
          </a:p>
          <a:p>
            <a:pPr marL="457200" lvl="0" indent="-311150" algn="l" rtl="0">
              <a:lnSpc>
                <a:spcPct val="100000"/>
              </a:lnSpc>
              <a:spcBef>
                <a:spcPts val="0"/>
              </a:spcBef>
              <a:spcAft>
                <a:spcPts val="0"/>
              </a:spcAft>
              <a:buClr>
                <a:srgbClr val="000000"/>
              </a:buClr>
              <a:buSzPts val="1300"/>
              <a:buFont typeface="Arial"/>
              <a:buChar char="●"/>
            </a:pPr>
            <a:r>
              <a:rPr lang="en" sz="1200">
                <a:solidFill>
                  <a:srgbClr val="000000"/>
                </a:solidFill>
                <a:latin typeface="Arial"/>
                <a:ea typeface="Arial"/>
                <a:cs typeface="Arial"/>
                <a:sym typeface="Arial"/>
              </a:rPr>
              <a:t>RBs average 4.48 sec, WRs avg 4.46 sec</a:t>
            </a:r>
            <a:endParaRPr sz="1200">
              <a:solidFill>
                <a:srgbClr val="000000"/>
              </a:solidFill>
              <a:latin typeface="Arial"/>
              <a:ea typeface="Arial"/>
              <a:cs typeface="Arial"/>
              <a:sym typeface="Arial"/>
            </a:endParaRPr>
          </a:p>
          <a:p>
            <a:pPr marL="457200" lvl="0" indent="-311150" algn="l" rtl="0">
              <a:lnSpc>
                <a:spcPct val="100000"/>
              </a:lnSpc>
              <a:spcBef>
                <a:spcPts val="0"/>
              </a:spcBef>
              <a:spcAft>
                <a:spcPts val="0"/>
              </a:spcAft>
              <a:buClr>
                <a:srgbClr val="000000"/>
              </a:buClr>
              <a:buSzPts val="1300"/>
              <a:buFont typeface="Arial"/>
              <a:buChar char="●"/>
            </a:pPr>
            <a:r>
              <a:rPr lang="en" sz="1200">
                <a:solidFill>
                  <a:srgbClr val="000000"/>
                </a:solidFill>
                <a:latin typeface="Arial"/>
                <a:ea typeface="Arial"/>
                <a:cs typeface="Arial"/>
                <a:sym typeface="Arial"/>
              </a:rPr>
              <a:t>Elite straight-line speed is a non-negotiable baseline at both skill positions</a:t>
            </a:r>
            <a:endParaRPr>
              <a:solidFill>
                <a:srgbClr val="000000"/>
              </a:solidFill>
              <a:latin typeface="Arial"/>
              <a:ea typeface="Arial"/>
              <a:cs typeface="Arial"/>
              <a:sym typeface="Arial"/>
            </a:endParaRPr>
          </a:p>
        </p:txBody>
      </p:sp>
      <p:sp>
        <p:nvSpPr>
          <p:cNvPr id="118" name="Google Shape;118;p16"/>
          <p:cNvSpPr txBox="1"/>
          <p:nvPr/>
        </p:nvSpPr>
        <p:spPr>
          <a:xfrm>
            <a:off x="4487525" y="1082100"/>
            <a:ext cx="4060200" cy="3732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200"/>
              <a:t>Partial Separation </a:t>
            </a:r>
            <a:endParaRPr sz="1200"/>
          </a:p>
          <a:p>
            <a:pPr marL="457200" lvl="0" indent="-311150" algn="l" rtl="0">
              <a:lnSpc>
                <a:spcPct val="100000"/>
              </a:lnSpc>
              <a:spcBef>
                <a:spcPts val="0"/>
              </a:spcBef>
              <a:spcAft>
                <a:spcPts val="0"/>
              </a:spcAft>
              <a:buSzPts val="1300"/>
              <a:buFont typeface="Lato"/>
              <a:buChar char="●"/>
            </a:pPr>
            <a:r>
              <a:rPr lang="en" sz="1200"/>
              <a:t>RBs and WRs overlap in PCA space</a:t>
            </a:r>
            <a:endParaRPr sz="1200"/>
          </a:p>
          <a:p>
            <a:pPr marL="457200" lvl="0" indent="-311150" algn="l" rtl="0">
              <a:lnSpc>
                <a:spcPct val="100000"/>
              </a:lnSpc>
              <a:spcBef>
                <a:spcPts val="0"/>
              </a:spcBef>
              <a:spcAft>
                <a:spcPts val="0"/>
              </a:spcAft>
              <a:buSzPts val="1300"/>
              <a:buFont typeface="Lato"/>
              <a:buChar char="●"/>
            </a:pPr>
            <a:r>
              <a:rPr lang="en" sz="1200"/>
              <a:t>Reflects modern NFL hybrid players who can line up at multiple positions and having overlapping skill sets</a:t>
            </a:r>
            <a:endParaRPr sz="1200"/>
          </a:p>
          <a:p>
            <a:pPr marL="0" lvl="0" indent="0" algn="l" rtl="0">
              <a:lnSpc>
                <a:spcPct val="100000"/>
              </a:lnSpc>
              <a:spcBef>
                <a:spcPts val="0"/>
              </a:spcBef>
              <a:spcAft>
                <a:spcPts val="0"/>
              </a:spcAft>
              <a:buNone/>
            </a:pPr>
            <a:endParaRPr sz="1200"/>
          </a:p>
          <a:p>
            <a:pPr marL="0" lvl="0" indent="0" algn="l" rtl="0">
              <a:lnSpc>
                <a:spcPct val="100000"/>
              </a:lnSpc>
              <a:spcBef>
                <a:spcPts val="0"/>
              </a:spcBef>
              <a:spcAft>
                <a:spcPts val="0"/>
              </a:spcAft>
              <a:buNone/>
            </a:pPr>
            <a:r>
              <a:rPr lang="en" sz="1200"/>
              <a:t>4 Features = 4 PCs = 100%</a:t>
            </a:r>
            <a:endParaRPr sz="1200"/>
          </a:p>
          <a:p>
            <a:pPr marL="457200" lvl="0" indent="-311150" algn="l" rtl="0">
              <a:lnSpc>
                <a:spcPct val="100000"/>
              </a:lnSpc>
              <a:spcBef>
                <a:spcPts val="0"/>
              </a:spcBef>
              <a:spcAft>
                <a:spcPts val="0"/>
              </a:spcAft>
              <a:buSzPts val="1300"/>
              <a:buFont typeface="Lato"/>
              <a:buChar char="●"/>
            </a:pPr>
            <a:r>
              <a:rPr lang="en" sz="1200"/>
              <a:t>All components needed for 90% retention</a:t>
            </a:r>
            <a:endParaRPr sz="1200"/>
          </a:p>
          <a:p>
            <a:pPr marL="457200" lvl="0" indent="-311150" algn="l" rtl="0">
              <a:lnSpc>
                <a:spcPct val="100000"/>
              </a:lnSpc>
              <a:spcBef>
                <a:spcPts val="0"/>
              </a:spcBef>
              <a:spcAft>
                <a:spcPts val="0"/>
              </a:spcAft>
              <a:buSzPts val="1300"/>
              <a:buFont typeface="Lato"/>
              <a:buChar char="●"/>
            </a:pPr>
            <a:r>
              <a:rPr lang="en" sz="1200"/>
              <a:t>There is low redundancy in the features because  each scouting metric contributes something unique to the analysis</a:t>
            </a:r>
            <a:endParaRPr sz="1200"/>
          </a:p>
          <a:p>
            <a:pPr marL="0" lvl="0" indent="0" algn="l" rtl="0">
              <a:lnSpc>
                <a:spcPct val="100000"/>
              </a:lnSpc>
              <a:spcBef>
                <a:spcPts val="0"/>
              </a:spcBef>
              <a:spcAft>
                <a:spcPts val="0"/>
              </a:spcAft>
              <a:buNone/>
            </a:pPr>
            <a:endParaRPr sz="1200"/>
          </a:p>
          <a:p>
            <a:pPr marL="0" lvl="0" indent="0" algn="l" rtl="0">
              <a:lnSpc>
                <a:spcPct val="100000"/>
              </a:lnSpc>
              <a:spcBef>
                <a:spcPts val="0"/>
              </a:spcBef>
              <a:spcAft>
                <a:spcPts val="0"/>
              </a:spcAft>
              <a:buNone/>
            </a:pPr>
            <a:r>
              <a:rPr lang="en" sz="1200"/>
              <a:t>PCA distilled 4 scouting measurements into 2 interpretable dimensions: SIZE and SPEED. This reflects the general athletic traits that NFL teams look for at skill positions.</a:t>
            </a:r>
            <a:endParaRPr sz="1200"/>
          </a:p>
          <a:p>
            <a:pPr marL="0" lvl="0" indent="0" algn="l" rtl="0">
              <a:lnSpc>
                <a:spcPct val="100000"/>
              </a:lnSpc>
              <a:spcBef>
                <a:spcPts val="0"/>
              </a:spcBef>
              <a:spcAft>
                <a:spcPts val="0"/>
              </a:spcAft>
              <a:buNone/>
            </a:pPr>
            <a:endParaRPr sz="1200"/>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79</TotalTime>
  <Words>1256</Words>
  <Application>Microsoft Macintosh PowerPoint</Application>
  <PresentationFormat>On-screen Show (16:9)</PresentationFormat>
  <Paragraphs>76</Paragraphs>
  <Slides>4</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Courier New</vt:lpstr>
      <vt:lpstr>Arial</vt:lpstr>
      <vt:lpstr>Raleway</vt:lpstr>
      <vt:lpstr>Lato</vt:lpstr>
      <vt:lpstr>Streamline</vt:lpstr>
      <vt:lpstr>Project 1 2025 NFL Combine  Running Backs vs Wide Receivers Athleticism </vt:lpstr>
      <vt:lpstr>Dataset Information + PCA Concept + Application   </vt:lpstr>
      <vt:lpstr>PowerPoint Presentation</vt:lpstr>
      <vt:lpstr>Conclusion + Key Takeaways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Minh Truong</cp:lastModifiedBy>
  <cp:revision>3</cp:revision>
  <dcterms:modified xsi:type="dcterms:W3CDTF">2026-02-21T23:07:42Z</dcterms:modified>
</cp:coreProperties>
</file>