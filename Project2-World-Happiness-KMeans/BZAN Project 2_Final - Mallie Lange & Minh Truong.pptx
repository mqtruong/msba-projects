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6"/>
  </p:notesMasterIdLst>
  <p:sldIdLst>
    <p:sldId id="256" r:id="rId2"/>
    <p:sldId id="257" r:id="rId3"/>
    <p:sldId id="258" r:id="rId4"/>
    <p:sldId id="259" r:id="rId5"/>
  </p:sldIdLst>
  <p:sldSz cx="9144000" cy="5143500" type="screen16x9"/>
  <p:notesSz cx="6858000" cy="9144000"/>
  <p:embeddedFontLst>
    <p:embeddedFont>
      <p:font typeface="Inter" panose="02000503000000020004" pitchFamily="2" charset="0"/>
      <p:regular r:id="rId7"/>
      <p:bold r:id="rId8"/>
      <p:italic r:id="rId9"/>
      <p:boldItalic r:id="rId10"/>
    </p:embeddedFont>
    <p:embeddedFont>
      <p:font typeface="Inter Light" panose="02000503000000020004" pitchFamily="2" charset="0"/>
      <p:regular r:id="rId11"/>
      <p:bold r:id="rId12"/>
      <p:italic r:id="rId13"/>
      <p:boldItalic r:id="rId14"/>
    </p:embeddedFont>
    <p:embeddedFont>
      <p:font typeface="Lato" panose="020F0502020204030203" pitchFamily="34" charset="0"/>
      <p:regular r:id="rId15"/>
      <p:bold r:id="rId16"/>
      <p:italic r:id="rId17"/>
      <p:boldItalic r:id="rId18"/>
    </p:embeddedFont>
    <p:embeddedFont>
      <p:font typeface="Open Sans" panose="020B0606030504020204" pitchFamily="34" charset="0"/>
      <p:regular r:id="rId19"/>
      <p:bold r:id="rId20"/>
      <p:italic r:id="rId21"/>
      <p:boldItalic r:id="rId22"/>
    </p:embeddedFont>
    <p:embeddedFont>
      <p:font typeface="PT Sans Narrow" panose="020B0506020203020204" pitchFamily="34" charset="77"/>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8"/>
  </p:normalViewPr>
  <p:slideViewPr>
    <p:cSldViewPr snapToGrid="0">
      <p:cViewPr varScale="1">
        <p:scale>
          <a:sx n="177" d="100"/>
          <a:sy n="177" d="100"/>
        </p:scale>
        <p:origin x="30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font" Target="fonts/font1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5.fntdata"/><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24"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font" Target="fonts/font9.fntdata"/><Relationship Id="rId23" Type="http://schemas.openxmlformats.org/officeDocument/2006/relationships/font" Target="fonts/font17.fntdata"/><Relationship Id="rId28" Type="http://schemas.openxmlformats.org/officeDocument/2006/relationships/tableStyles" Target="tableStyles.xml"/><Relationship Id="rId10" Type="http://schemas.openxmlformats.org/officeDocument/2006/relationships/font" Target="fonts/font4.fntdata"/><Relationship Id="rId19"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font" Target="fonts/font1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dd479245a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dd479245a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project applies K-Means clustering, an unsupervised machine learning algorithm, to the World Happiness Report 2024 dataset, to identify natural groupings among countries based on six key happiness indicators.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dd479245ac_0_1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dd479245ac_0_1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World Happiness Report 2024 includes 143 countries evaluated across six indicators: GDP per capita, social support, healthy life expectancy, freedom, generosity, and perceptions of corruption. Unsupervised learning algorithms use unlabeled data to identify patterns or groupings without predefined outputs. K-Means clustering was selected because the dataset contains no predefined labels, making unsupervised learning the most suitable approach for identifying natural groupings among countries.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d56b1edea8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d56b1edea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elbow method tested k=1 through k=10 and identified k=3 as the optimal number of clusters where inertia begins to flatten. The three clusters represent low, medium, and high happiness countries, differentiated primarily by GDP per capita and social support.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dd479245ac_0_11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dd479245ac_0_1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scatter plot shows countries grouped into three clusters based on their log GDP per capita  and social support. Itshows clear separation between the three clusters confirming that the aforementioned are the strongest differentiators of national happiness. Countries with higher GDP and stronger social systems consistently fall in the high happiness cluster, while lower-income nations with weaker support systems cluster fall in the low happiness cluster.</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 Alt 1">
  <p:cSld name="BLANK_1">
    <p:bg>
      <p:bgPr>
        <a:solidFill>
          <a:schemeClr val="dk2"/>
        </a:solidFill>
        <a:effectLst/>
      </p:bgPr>
    </p:bg>
    <p:spTree>
      <p:nvGrpSpPr>
        <p:cNvPr id="1" name="Shape 62"/>
        <p:cNvGrpSpPr/>
        <p:nvPr/>
      </p:nvGrpSpPr>
      <p:grpSpPr>
        <a:xfrm>
          <a:off x="0" y="0"/>
          <a:ext cx="0" cy="0"/>
          <a:chOff x="0" y="0"/>
          <a:chExt cx="0" cy="0"/>
        </a:xfrm>
      </p:grpSpPr>
      <p:sp>
        <p:nvSpPr>
          <p:cNvPr id="63" name="Google Shape;63;p13"/>
          <p:cNvSpPr/>
          <p:nvPr/>
        </p:nvSpPr>
        <p:spPr>
          <a:xfrm>
            <a:off x="175" y="-2125"/>
            <a:ext cx="6913800" cy="4203000"/>
          </a:xfrm>
          <a:prstGeom prst="rect">
            <a:avLst/>
          </a:prstGeom>
          <a:gradFill>
            <a:gsLst>
              <a:gs pos="0">
                <a:schemeClr val="accent1"/>
              </a:gs>
              <a:gs pos="72000">
                <a:schemeClr val="lt1"/>
              </a:gs>
              <a:gs pos="100000">
                <a:schemeClr val="dk2"/>
              </a:gs>
            </a:gsLst>
            <a:path path="circle">
              <a:fillToRect l="100000" t="100000"/>
            </a:path>
            <a:tileRect r="-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64" name="Google Shape;64;p13"/>
          <p:cNvSpPr/>
          <p:nvPr/>
        </p:nvSpPr>
        <p:spPr>
          <a:xfrm rot="10800000">
            <a:off x="175" y="4198775"/>
            <a:ext cx="6913800" cy="940500"/>
          </a:xfrm>
          <a:prstGeom prst="rect">
            <a:avLst/>
          </a:prstGeom>
          <a:gradFill>
            <a:gsLst>
              <a:gs pos="0">
                <a:schemeClr val="accent1"/>
              </a:gs>
              <a:gs pos="72000">
                <a:schemeClr val="lt1"/>
              </a:gs>
              <a:gs pos="100000">
                <a:schemeClr val="dk2"/>
              </a:gs>
            </a:gsLst>
            <a:path path="circle">
              <a:fillToRect l="100000" t="100000"/>
            </a:path>
            <a:tileRect r="-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65" name="Google Shape;65;p13"/>
          <p:cNvSpPr/>
          <p:nvPr/>
        </p:nvSpPr>
        <p:spPr>
          <a:xfrm rot="10800000">
            <a:off x="6914000" y="4198775"/>
            <a:ext cx="2232300" cy="940500"/>
          </a:xfrm>
          <a:prstGeom prst="rect">
            <a:avLst/>
          </a:prstGeom>
          <a:gradFill>
            <a:gsLst>
              <a:gs pos="0">
                <a:schemeClr val="accent1"/>
              </a:gs>
              <a:gs pos="72000">
                <a:schemeClr val="lt1"/>
              </a:gs>
              <a:gs pos="100000">
                <a:schemeClr val="dk2"/>
              </a:gs>
            </a:gsLst>
            <a:path path="circle">
              <a:fillToRect l="100000" t="100000"/>
            </a:path>
            <a:tileRect r="-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66" name="Google Shape;66;p13"/>
          <p:cNvSpPr/>
          <p:nvPr/>
        </p:nvSpPr>
        <p:spPr>
          <a:xfrm rot="10800000">
            <a:off x="6914000" y="-2225"/>
            <a:ext cx="2232300" cy="4202400"/>
          </a:xfrm>
          <a:prstGeom prst="rect">
            <a:avLst/>
          </a:prstGeom>
          <a:gradFill>
            <a:gsLst>
              <a:gs pos="0">
                <a:schemeClr val="accent1"/>
              </a:gs>
              <a:gs pos="72000">
                <a:schemeClr val="lt1"/>
              </a:gs>
              <a:gs pos="100000">
                <a:schemeClr val="dk2"/>
              </a:gs>
            </a:gsLst>
            <a:path path="circle">
              <a:fillToRect l="100000" t="100000"/>
            </a:path>
            <a:tileRect r="-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67" name="Google Shape;67;p13"/>
          <p:cNvSpPr txBox="1">
            <a:spLocks noGrp="1"/>
          </p:cNvSpPr>
          <p:nvPr>
            <p:ph type="title"/>
          </p:nvPr>
        </p:nvSpPr>
        <p:spPr>
          <a:xfrm>
            <a:off x="272350" y="746550"/>
            <a:ext cx="6493800" cy="3382800"/>
          </a:xfrm>
          <a:prstGeom prst="rect">
            <a:avLst/>
          </a:prstGeom>
        </p:spPr>
        <p:txBody>
          <a:bodyPr spcFirstLastPara="1" wrap="square" lIns="0" tIns="91425" rIns="0" bIns="91425" anchor="b" anchorCtr="0">
            <a:noAutofit/>
          </a:bodyPr>
          <a:lstStyle>
            <a:lvl1pPr lvl="0">
              <a:spcBef>
                <a:spcPts val="0"/>
              </a:spcBef>
              <a:spcAft>
                <a:spcPts val="0"/>
              </a:spcAft>
              <a:buNone/>
              <a:defRPr sz="6000"/>
            </a:lvl1pPr>
            <a:lvl2pPr lvl="1">
              <a:lnSpc>
                <a:spcPct val="115000"/>
              </a:lnSpc>
              <a:spcBef>
                <a:spcPts val="0"/>
              </a:spcBef>
              <a:spcAft>
                <a:spcPts val="0"/>
              </a:spcAft>
              <a:buNone/>
              <a:defRPr sz="6000"/>
            </a:lvl2pPr>
            <a:lvl3pPr lvl="2">
              <a:lnSpc>
                <a:spcPct val="115000"/>
              </a:lnSpc>
              <a:spcBef>
                <a:spcPts val="0"/>
              </a:spcBef>
              <a:spcAft>
                <a:spcPts val="0"/>
              </a:spcAft>
              <a:buNone/>
              <a:defRPr sz="6000"/>
            </a:lvl3pPr>
            <a:lvl4pPr lvl="3">
              <a:lnSpc>
                <a:spcPct val="115000"/>
              </a:lnSpc>
              <a:spcBef>
                <a:spcPts val="0"/>
              </a:spcBef>
              <a:spcAft>
                <a:spcPts val="0"/>
              </a:spcAft>
              <a:buNone/>
              <a:defRPr sz="6000"/>
            </a:lvl4pPr>
            <a:lvl5pPr lvl="4">
              <a:lnSpc>
                <a:spcPct val="115000"/>
              </a:lnSpc>
              <a:spcBef>
                <a:spcPts val="0"/>
              </a:spcBef>
              <a:spcAft>
                <a:spcPts val="0"/>
              </a:spcAft>
              <a:buNone/>
              <a:defRPr sz="6000"/>
            </a:lvl5pPr>
            <a:lvl6pPr lvl="5">
              <a:lnSpc>
                <a:spcPct val="115000"/>
              </a:lnSpc>
              <a:spcBef>
                <a:spcPts val="0"/>
              </a:spcBef>
              <a:spcAft>
                <a:spcPts val="0"/>
              </a:spcAft>
              <a:buNone/>
              <a:defRPr sz="6000"/>
            </a:lvl6pPr>
            <a:lvl7pPr lvl="6">
              <a:lnSpc>
                <a:spcPct val="115000"/>
              </a:lnSpc>
              <a:spcBef>
                <a:spcPts val="0"/>
              </a:spcBef>
              <a:spcAft>
                <a:spcPts val="0"/>
              </a:spcAft>
              <a:buNone/>
              <a:defRPr sz="6000"/>
            </a:lvl7pPr>
            <a:lvl8pPr lvl="7">
              <a:lnSpc>
                <a:spcPct val="115000"/>
              </a:lnSpc>
              <a:spcBef>
                <a:spcPts val="0"/>
              </a:spcBef>
              <a:spcAft>
                <a:spcPts val="0"/>
              </a:spcAft>
              <a:buNone/>
              <a:defRPr sz="6000"/>
            </a:lvl8pPr>
            <a:lvl9pPr lvl="8">
              <a:lnSpc>
                <a:spcPct val="115000"/>
              </a:lnSpc>
              <a:spcBef>
                <a:spcPts val="0"/>
              </a:spcBef>
              <a:spcAft>
                <a:spcPts val="0"/>
              </a:spcAft>
              <a:buNone/>
              <a:defRPr sz="6000"/>
            </a:lvl9pPr>
          </a:lstStyle>
          <a:p>
            <a:endParaRPr/>
          </a:p>
        </p:txBody>
      </p:sp>
      <p:sp>
        <p:nvSpPr>
          <p:cNvPr id="68" name="Google Shape;68;p13"/>
          <p:cNvSpPr txBox="1">
            <a:spLocks noGrp="1"/>
          </p:cNvSpPr>
          <p:nvPr>
            <p:ph type="subTitle" idx="1"/>
          </p:nvPr>
        </p:nvSpPr>
        <p:spPr>
          <a:xfrm>
            <a:off x="272350" y="4377150"/>
            <a:ext cx="1812900" cy="107700"/>
          </a:xfrm>
          <a:prstGeom prst="rect">
            <a:avLst/>
          </a:prstGeom>
        </p:spPr>
        <p:txBody>
          <a:bodyPr spcFirstLastPara="1" wrap="square" lIns="0" tIns="0" rIns="0" bIns="0" anchor="t" anchorCtr="0">
            <a:spAutoFit/>
          </a:bodyPr>
          <a:lstStyle>
            <a:lvl1pPr lvl="0">
              <a:spcBef>
                <a:spcPts val="0"/>
              </a:spcBef>
              <a:spcAft>
                <a:spcPts val="0"/>
              </a:spcAft>
              <a:buSzPts val="700"/>
              <a:buNone/>
              <a:defRPr sz="700"/>
            </a:lvl1pPr>
            <a:lvl2pPr lvl="1">
              <a:spcBef>
                <a:spcPts val="0"/>
              </a:spcBef>
              <a:spcAft>
                <a:spcPts val="0"/>
              </a:spcAft>
              <a:buClr>
                <a:schemeClr val="dk1"/>
              </a:buClr>
              <a:buSzPts val="700"/>
              <a:buNone/>
              <a:defRPr sz="700">
                <a:solidFill>
                  <a:schemeClr val="dk1"/>
                </a:solidFill>
              </a:defRPr>
            </a:lvl2pPr>
            <a:lvl3pPr lvl="2">
              <a:spcBef>
                <a:spcPts val="0"/>
              </a:spcBef>
              <a:spcAft>
                <a:spcPts val="0"/>
              </a:spcAft>
              <a:buClr>
                <a:schemeClr val="dk1"/>
              </a:buClr>
              <a:buSzPts val="700"/>
              <a:buNone/>
              <a:defRPr sz="700">
                <a:solidFill>
                  <a:schemeClr val="dk1"/>
                </a:solidFill>
              </a:defRPr>
            </a:lvl3pPr>
            <a:lvl4pPr lvl="3">
              <a:spcBef>
                <a:spcPts val="0"/>
              </a:spcBef>
              <a:spcAft>
                <a:spcPts val="0"/>
              </a:spcAft>
              <a:buClr>
                <a:schemeClr val="dk1"/>
              </a:buClr>
              <a:buSzPts val="700"/>
              <a:buNone/>
              <a:defRPr sz="700">
                <a:solidFill>
                  <a:schemeClr val="dk1"/>
                </a:solidFill>
              </a:defRPr>
            </a:lvl4pPr>
            <a:lvl5pPr lvl="4">
              <a:spcBef>
                <a:spcPts val="0"/>
              </a:spcBef>
              <a:spcAft>
                <a:spcPts val="0"/>
              </a:spcAft>
              <a:buClr>
                <a:schemeClr val="dk1"/>
              </a:buClr>
              <a:buSzPts val="700"/>
              <a:buNone/>
              <a:defRPr sz="700">
                <a:solidFill>
                  <a:schemeClr val="dk1"/>
                </a:solidFill>
              </a:defRPr>
            </a:lvl5pPr>
            <a:lvl6pPr lvl="5">
              <a:spcBef>
                <a:spcPts val="0"/>
              </a:spcBef>
              <a:spcAft>
                <a:spcPts val="0"/>
              </a:spcAft>
              <a:buClr>
                <a:schemeClr val="dk1"/>
              </a:buClr>
              <a:buSzPts val="700"/>
              <a:buNone/>
              <a:defRPr sz="700">
                <a:solidFill>
                  <a:schemeClr val="dk1"/>
                </a:solidFill>
              </a:defRPr>
            </a:lvl6pPr>
            <a:lvl7pPr lvl="6">
              <a:spcBef>
                <a:spcPts val="0"/>
              </a:spcBef>
              <a:spcAft>
                <a:spcPts val="0"/>
              </a:spcAft>
              <a:buClr>
                <a:schemeClr val="dk1"/>
              </a:buClr>
              <a:buSzPts val="700"/>
              <a:buNone/>
              <a:defRPr sz="700">
                <a:solidFill>
                  <a:schemeClr val="dk1"/>
                </a:solidFill>
              </a:defRPr>
            </a:lvl7pPr>
            <a:lvl8pPr lvl="7">
              <a:spcBef>
                <a:spcPts val="0"/>
              </a:spcBef>
              <a:spcAft>
                <a:spcPts val="0"/>
              </a:spcAft>
              <a:buClr>
                <a:schemeClr val="dk1"/>
              </a:buClr>
              <a:buSzPts val="700"/>
              <a:buNone/>
              <a:defRPr sz="700">
                <a:solidFill>
                  <a:schemeClr val="dk1"/>
                </a:solidFill>
              </a:defRPr>
            </a:lvl8pPr>
            <a:lvl9pPr lvl="8">
              <a:spcBef>
                <a:spcPts val="0"/>
              </a:spcBef>
              <a:spcAft>
                <a:spcPts val="0"/>
              </a:spcAft>
              <a:buClr>
                <a:schemeClr val="dk1"/>
              </a:buClr>
              <a:buSzPts val="700"/>
              <a:buNone/>
              <a:defRPr sz="700">
                <a:solidFill>
                  <a:schemeClr val="dk1"/>
                </a:solidFill>
              </a:defRPr>
            </a:lvl9pPr>
          </a:lstStyle>
          <a:p>
            <a:endParaRPr/>
          </a:p>
        </p:txBody>
      </p:sp>
      <p:sp>
        <p:nvSpPr>
          <p:cNvPr id="69" name="Google Shape;69;p13"/>
          <p:cNvSpPr txBox="1">
            <a:spLocks noGrp="1"/>
          </p:cNvSpPr>
          <p:nvPr>
            <p:ph type="subTitle" idx="2"/>
          </p:nvPr>
        </p:nvSpPr>
        <p:spPr>
          <a:xfrm>
            <a:off x="7046325" y="4377150"/>
            <a:ext cx="1812900" cy="107700"/>
          </a:xfrm>
          <a:prstGeom prst="rect">
            <a:avLst/>
          </a:prstGeom>
        </p:spPr>
        <p:txBody>
          <a:bodyPr spcFirstLastPara="1" wrap="square" lIns="0" tIns="0" rIns="0" bIns="0" anchor="t" anchorCtr="0">
            <a:spAutoFit/>
          </a:bodyPr>
          <a:lstStyle>
            <a:lvl1pPr lvl="0">
              <a:spcBef>
                <a:spcPts val="0"/>
              </a:spcBef>
              <a:spcAft>
                <a:spcPts val="0"/>
              </a:spcAft>
              <a:buSzPts val="700"/>
              <a:buNone/>
              <a:defRPr sz="700"/>
            </a:lvl1pPr>
            <a:lvl2pPr lvl="1">
              <a:spcBef>
                <a:spcPts val="0"/>
              </a:spcBef>
              <a:spcAft>
                <a:spcPts val="0"/>
              </a:spcAft>
              <a:buClr>
                <a:schemeClr val="dk1"/>
              </a:buClr>
              <a:buSzPts val="700"/>
              <a:buNone/>
              <a:defRPr sz="700">
                <a:solidFill>
                  <a:schemeClr val="dk1"/>
                </a:solidFill>
              </a:defRPr>
            </a:lvl2pPr>
            <a:lvl3pPr lvl="2">
              <a:spcBef>
                <a:spcPts val="0"/>
              </a:spcBef>
              <a:spcAft>
                <a:spcPts val="0"/>
              </a:spcAft>
              <a:buClr>
                <a:schemeClr val="dk1"/>
              </a:buClr>
              <a:buSzPts val="700"/>
              <a:buNone/>
              <a:defRPr sz="700">
                <a:solidFill>
                  <a:schemeClr val="dk1"/>
                </a:solidFill>
              </a:defRPr>
            </a:lvl3pPr>
            <a:lvl4pPr lvl="3">
              <a:spcBef>
                <a:spcPts val="0"/>
              </a:spcBef>
              <a:spcAft>
                <a:spcPts val="0"/>
              </a:spcAft>
              <a:buClr>
                <a:schemeClr val="dk1"/>
              </a:buClr>
              <a:buSzPts val="700"/>
              <a:buNone/>
              <a:defRPr sz="700">
                <a:solidFill>
                  <a:schemeClr val="dk1"/>
                </a:solidFill>
              </a:defRPr>
            </a:lvl4pPr>
            <a:lvl5pPr lvl="4">
              <a:spcBef>
                <a:spcPts val="0"/>
              </a:spcBef>
              <a:spcAft>
                <a:spcPts val="0"/>
              </a:spcAft>
              <a:buClr>
                <a:schemeClr val="dk1"/>
              </a:buClr>
              <a:buSzPts val="700"/>
              <a:buNone/>
              <a:defRPr sz="700">
                <a:solidFill>
                  <a:schemeClr val="dk1"/>
                </a:solidFill>
              </a:defRPr>
            </a:lvl5pPr>
            <a:lvl6pPr lvl="5">
              <a:spcBef>
                <a:spcPts val="0"/>
              </a:spcBef>
              <a:spcAft>
                <a:spcPts val="0"/>
              </a:spcAft>
              <a:buClr>
                <a:schemeClr val="dk1"/>
              </a:buClr>
              <a:buSzPts val="700"/>
              <a:buNone/>
              <a:defRPr sz="700">
                <a:solidFill>
                  <a:schemeClr val="dk1"/>
                </a:solidFill>
              </a:defRPr>
            </a:lvl6pPr>
            <a:lvl7pPr lvl="6">
              <a:spcBef>
                <a:spcPts val="0"/>
              </a:spcBef>
              <a:spcAft>
                <a:spcPts val="0"/>
              </a:spcAft>
              <a:buClr>
                <a:schemeClr val="dk1"/>
              </a:buClr>
              <a:buSzPts val="700"/>
              <a:buNone/>
              <a:defRPr sz="700">
                <a:solidFill>
                  <a:schemeClr val="dk1"/>
                </a:solidFill>
              </a:defRPr>
            </a:lvl7pPr>
            <a:lvl8pPr lvl="7">
              <a:spcBef>
                <a:spcPts val="0"/>
              </a:spcBef>
              <a:spcAft>
                <a:spcPts val="0"/>
              </a:spcAft>
              <a:buClr>
                <a:schemeClr val="dk1"/>
              </a:buClr>
              <a:buSzPts val="700"/>
              <a:buNone/>
              <a:defRPr sz="700">
                <a:solidFill>
                  <a:schemeClr val="dk1"/>
                </a:solidFill>
              </a:defRPr>
            </a:lvl8pPr>
            <a:lvl9pPr lvl="8">
              <a:spcBef>
                <a:spcPts val="0"/>
              </a:spcBef>
              <a:spcAft>
                <a:spcPts val="0"/>
              </a:spcAft>
              <a:buClr>
                <a:schemeClr val="dk1"/>
              </a:buClr>
              <a:buSzPts val="700"/>
              <a:buNone/>
              <a:defRPr sz="700">
                <a:solidFill>
                  <a:schemeClr val="dk1"/>
                </a:solidFill>
              </a:defRPr>
            </a:lvl9pPr>
          </a:lstStyle>
          <a:p>
            <a:endParaRPr/>
          </a:p>
        </p:txBody>
      </p:sp>
      <p:sp>
        <p:nvSpPr>
          <p:cNvPr id="70" name="Google Shape;70;p13"/>
          <p:cNvSpPr txBox="1">
            <a:spLocks noGrp="1"/>
          </p:cNvSpPr>
          <p:nvPr>
            <p:ph type="subTitle" idx="3"/>
          </p:nvPr>
        </p:nvSpPr>
        <p:spPr>
          <a:xfrm>
            <a:off x="3078275" y="4377150"/>
            <a:ext cx="2874000" cy="107700"/>
          </a:xfrm>
          <a:prstGeom prst="rect">
            <a:avLst/>
          </a:prstGeom>
        </p:spPr>
        <p:txBody>
          <a:bodyPr spcFirstLastPara="1" wrap="square" lIns="0" tIns="0" rIns="0" bIns="0" anchor="t" anchorCtr="0">
            <a:spAutoFit/>
          </a:bodyPr>
          <a:lstStyle>
            <a:lvl1pPr lvl="0">
              <a:spcBef>
                <a:spcPts val="0"/>
              </a:spcBef>
              <a:spcAft>
                <a:spcPts val="0"/>
              </a:spcAft>
              <a:buSzPts val="700"/>
              <a:buNone/>
              <a:defRPr sz="700"/>
            </a:lvl1pPr>
            <a:lvl2pPr lvl="1">
              <a:spcBef>
                <a:spcPts val="0"/>
              </a:spcBef>
              <a:spcAft>
                <a:spcPts val="0"/>
              </a:spcAft>
              <a:buClr>
                <a:schemeClr val="dk1"/>
              </a:buClr>
              <a:buSzPts val="700"/>
              <a:buNone/>
              <a:defRPr sz="700">
                <a:solidFill>
                  <a:schemeClr val="dk1"/>
                </a:solidFill>
              </a:defRPr>
            </a:lvl2pPr>
            <a:lvl3pPr lvl="2">
              <a:spcBef>
                <a:spcPts val="0"/>
              </a:spcBef>
              <a:spcAft>
                <a:spcPts val="0"/>
              </a:spcAft>
              <a:buClr>
                <a:schemeClr val="dk1"/>
              </a:buClr>
              <a:buSzPts val="700"/>
              <a:buNone/>
              <a:defRPr sz="700">
                <a:solidFill>
                  <a:schemeClr val="dk1"/>
                </a:solidFill>
              </a:defRPr>
            </a:lvl3pPr>
            <a:lvl4pPr lvl="3">
              <a:spcBef>
                <a:spcPts val="0"/>
              </a:spcBef>
              <a:spcAft>
                <a:spcPts val="0"/>
              </a:spcAft>
              <a:buClr>
                <a:schemeClr val="dk1"/>
              </a:buClr>
              <a:buSzPts val="700"/>
              <a:buNone/>
              <a:defRPr sz="700">
                <a:solidFill>
                  <a:schemeClr val="dk1"/>
                </a:solidFill>
              </a:defRPr>
            </a:lvl4pPr>
            <a:lvl5pPr lvl="4">
              <a:spcBef>
                <a:spcPts val="0"/>
              </a:spcBef>
              <a:spcAft>
                <a:spcPts val="0"/>
              </a:spcAft>
              <a:buClr>
                <a:schemeClr val="dk1"/>
              </a:buClr>
              <a:buSzPts val="700"/>
              <a:buNone/>
              <a:defRPr sz="700">
                <a:solidFill>
                  <a:schemeClr val="dk1"/>
                </a:solidFill>
              </a:defRPr>
            </a:lvl5pPr>
            <a:lvl6pPr lvl="5">
              <a:spcBef>
                <a:spcPts val="0"/>
              </a:spcBef>
              <a:spcAft>
                <a:spcPts val="0"/>
              </a:spcAft>
              <a:buClr>
                <a:schemeClr val="dk1"/>
              </a:buClr>
              <a:buSzPts val="700"/>
              <a:buNone/>
              <a:defRPr sz="700">
                <a:solidFill>
                  <a:schemeClr val="dk1"/>
                </a:solidFill>
              </a:defRPr>
            </a:lvl6pPr>
            <a:lvl7pPr lvl="6">
              <a:spcBef>
                <a:spcPts val="0"/>
              </a:spcBef>
              <a:spcAft>
                <a:spcPts val="0"/>
              </a:spcAft>
              <a:buClr>
                <a:schemeClr val="dk1"/>
              </a:buClr>
              <a:buSzPts val="700"/>
              <a:buNone/>
              <a:defRPr sz="700">
                <a:solidFill>
                  <a:schemeClr val="dk1"/>
                </a:solidFill>
              </a:defRPr>
            </a:lvl7pPr>
            <a:lvl8pPr lvl="7">
              <a:spcBef>
                <a:spcPts val="0"/>
              </a:spcBef>
              <a:spcAft>
                <a:spcPts val="0"/>
              </a:spcAft>
              <a:buClr>
                <a:schemeClr val="dk1"/>
              </a:buClr>
              <a:buSzPts val="700"/>
              <a:buNone/>
              <a:defRPr sz="700">
                <a:solidFill>
                  <a:schemeClr val="dk1"/>
                </a:solidFill>
              </a:defRPr>
            </a:lvl8pPr>
            <a:lvl9pPr lvl="8">
              <a:spcBef>
                <a:spcPts val="0"/>
              </a:spcBef>
              <a:spcAft>
                <a:spcPts val="0"/>
              </a:spcAft>
              <a:buClr>
                <a:schemeClr val="dk1"/>
              </a:buClr>
              <a:buSzPts val="700"/>
              <a:buNone/>
              <a:defRPr sz="700">
                <a:solidFill>
                  <a:schemeClr val="dk1"/>
                </a:solidFill>
              </a:defRPr>
            </a:lvl9pPr>
          </a:lstStyle>
          <a:p>
            <a:endParaRPr/>
          </a:p>
        </p:txBody>
      </p:sp>
      <p:sp>
        <p:nvSpPr>
          <p:cNvPr id="71" name="Google Shape;71;p13"/>
          <p:cNvSpPr txBox="1">
            <a:spLocks noGrp="1"/>
          </p:cNvSpPr>
          <p:nvPr>
            <p:ph type="subTitle" idx="4"/>
          </p:nvPr>
        </p:nvSpPr>
        <p:spPr>
          <a:xfrm>
            <a:off x="7046325" y="244300"/>
            <a:ext cx="1812900" cy="1157400"/>
          </a:xfrm>
          <a:prstGeom prst="rect">
            <a:avLst/>
          </a:prstGeom>
        </p:spPr>
        <p:txBody>
          <a:bodyPr spcFirstLastPara="1" wrap="square" lIns="0" tIns="0" rIns="0" bIns="0" anchor="t" anchorCtr="0">
            <a:spAutoFit/>
          </a:bodyPr>
          <a:lstStyle>
            <a:lvl1pPr lvl="0">
              <a:spcBef>
                <a:spcPts val="0"/>
              </a:spcBef>
              <a:spcAft>
                <a:spcPts val="0"/>
              </a:spcAft>
              <a:buSzPts val="2600"/>
              <a:buFont typeface="Inter Light"/>
              <a:buNone/>
              <a:defRPr sz="2600">
                <a:latin typeface="Inter Light"/>
                <a:ea typeface="Inter Light"/>
                <a:cs typeface="Inter Light"/>
                <a:sym typeface="Inter Light"/>
              </a:defRPr>
            </a:lvl1pPr>
            <a:lvl2pPr lvl="1">
              <a:spcBef>
                <a:spcPts val="0"/>
              </a:spcBef>
              <a:spcAft>
                <a:spcPts val="0"/>
              </a:spcAft>
              <a:buClr>
                <a:schemeClr val="dk1"/>
              </a:buClr>
              <a:buSzPts val="2600"/>
              <a:buFont typeface="Inter Light"/>
              <a:buNone/>
              <a:defRPr sz="2600">
                <a:solidFill>
                  <a:schemeClr val="dk1"/>
                </a:solidFill>
                <a:latin typeface="Inter Light"/>
                <a:ea typeface="Inter Light"/>
                <a:cs typeface="Inter Light"/>
                <a:sym typeface="Inter Light"/>
              </a:defRPr>
            </a:lvl2pPr>
            <a:lvl3pPr lvl="2">
              <a:spcBef>
                <a:spcPts val="0"/>
              </a:spcBef>
              <a:spcAft>
                <a:spcPts val="0"/>
              </a:spcAft>
              <a:buClr>
                <a:schemeClr val="dk1"/>
              </a:buClr>
              <a:buSzPts val="2600"/>
              <a:buFont typeface="Inter Light"/>
              <a:buNone/>
              <a:defRPr sz="2600">
                <a:solidFill>
                  <a:schemeClr val="dk1"/>
                </a:solidFill>
                <a:latin typeface="Inter Light"/>
                <a:ea typeface="Inter Light"/>
                <a:cs typeface="Inter Light"/>
                <a:sym typeface="Inter Light"/>
              </a:defRPr>
            </a:lvl3pPr>
            <a:lvl4pPr lvl="3">
              <a:spcBef>
                <a:spcPts val="0"/>
              </a:spcBef>
              <a:spcAft>
                <a:spcPts val="0"/>
              </a:spcAft>
              <a:buClr>
                <a:schemeClr val="dk1"/>
              </a:buClr>
              <a:buSzPts val="2600"/>
              <a:buFont typeface="Inter Light"/>
              <a:buNone/>
              <a:defRPr sz="2600">
                <a:solidFill>
                  <a:schemeClr val="dk1"/>
                </a:solidFill>
                <a:latin typeface="Inter Light"/>
                <a:ea typeface="Inter Light"/>
                <a:cs typeface="Inter Light"/>
                <a:sym typeface="Inter Light"/>
              </a:defRPr>
            </a:lvl4pPr>
            <a:lvl5pPr lvl="4">
              <a:spcBef>
                <a:spcPts val="0"/>
              </a:spcBef>
              <a:spcAft>
                <a:spcPts val="0"/>
              </a:spcAft>
              <a:buClr>
                <a:schemeClr val="dk1"/>
              </a:buClr>
              <a:buSzPts val="2600"/>
              <a:buFont typeface="Inter Light"/>
              <a:buNone/>
              <a:defRPr sz="2600">
                <a:solidFill>
                  <a:schemeClr val="dk1"/>
                </a:solidFill>
                <a:latin typeface="Inter Light"/>
                <a:ea typeface="Inter Light"/>
                <a:cs typeface="Inter Light"/>
                <a:sym typeface="Inter Light"/>
              </a:defRPr>
            </a:lvl5pPr>
            <a:lvl6pPr lvl="5">
              <a:spcBef>
                <a:spcPts val="0"/>
              </a:spcBef>
              <a:spcAft>
                <a:spcPts val="0"/>
              </a:spcAft>
              <a:buClr>
                <a:schemeClr val="dk1"/>
              </a:buClr>
              <a:buSzPts val="2600"/>
              <a:buFont typeface="Inter Light"/>
              <a:buNone/>
              <a:defRPr sz="2600">
                <a:solidFill>
                  <a:schemeClr val="dk1"/>
                </a:solidFill>
                <a:latin typeface="Inter Light"/>
                <a:ea typeface="Inter Light"/>
                <a:cs typeface="Inter Light"/>
                <a:sym typeface="Inter Light"/>
              </a:defRPr>
            </a:lvl6pPr>
            <a:lvl7pPr lvl="6">
              <a:spcBef>
                <a:spcPts val="0"/>
              </a:spcBef>
              <a:spcAft>
                <a:spcPts val="0"/>
              </a:spcAft>
              <a:buClr>
                <a:schemeClr val="dk1"/>
              </a:buClr>
              <a:buSzPts val="2600"/>
              <a:buFont typeface="Inter Light"/>
              <a:buNone/>
              <a:defRPr sz="2600">
                <a:solidFill>
                  <a:schemeClr val="dk1"/>
                </a:solidFill>
                <a:latin typeface="Inter Light"/>
                <a:ea typeface="Inter Light"/>
                <a:cs typeface="Inter Light"/>
                <a:sym typeface="Inter Light"/>
              </a:defRPr>
            </a:lvl7pPr>
            <a:lvl8pPr lvl="7">
              <a:spcBef>
                <a:spcPts val="0"/>
              </a:spcBef>
              <a:spcAft>
                <a:spcPts val="0"/>
              </a:spcAft>
              <a:buClr>
                <a:schemeClr val="dk1"/>
              </a:buClr>
              <a:buSzPts val="2600"/>
              <a:buFont typeface="Inter Light"/>
              <a:buNone/>
              <a:defRPr sz="2600">
                <a:solidFill>
                  <a:schemeClr val="dk1"/>
                </a:solidFill>
                <a:latin typeface="Inter Light"/>
                <a:ea typeface="Inter Light"/>
                <a:cs typeface="Inter Light"/>
                <a:sym typeface="Inter Light"/>
              </a:defRPr>
            </a:lvl8pPr>
            <a:lvl9pPr lvl="8">
              <a:spcBef>
                <a:spcPts val="0"/>
              </a:spcBef>
              <a:spcAft>
                <a:spcPts val="0"/>
              </a:spcAft>
              <a:buClr>
                <a:schemeClr val="dk1"/>
              </a:buClr>
              <a:buSzPts val="2600"/>
              <a:buFont typeface="Inter Light"/>
              <a:buNone/>
              <a:defRPr sz="2600">
                <a:solidFill>
                  <a:schemeClr val="dk1"/>
                </a:solidFill>
                <a:latin typeface="Inter Light"/>
                <a:ea typeface="Inter Light"/>
                <a:cs typeface="Inter Light"/>
                <a:sym typeface="Inter Light"/>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kaggle.com"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ctrTitle"/>
          </p:nvPr>
        </p:nvSpPr>
        <p:spPr>
          <a:xfrm>
            <a:off x="1003650" y="1673688"/>
            <a:ext cx="7136700" cy="11151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endParaRPr/>
          </a:p>
          <a:p>
            <a:pPr marL="0" lvl="0" indent="0" algn="ctr" rtl="0">
              <a:spcBef>
                <a:spcPts val="0"/>
              </a:spcBef>
              <a:spcAft>
                <a:spcPts val="0"/>
              </a:spcAft>
              <a:buNone/>
            </a:pPr>
            <a:r>
              <a:rPr lang="en"/>
              <a:t>World Happiness Report K-Means Clustering </a:t>
            </a:r>
            <a:endParaRPr/>
          </a:p>
        </p:txBody>
      </p:sp>
      <p:sp>
        <p:nvSpPr>
          <p:cNvPr id="77" name="Google Shape;77;p14"/>
          <p:cNvSpPr txBox="1">
            <a:spLocks noGrp="1"/>
          </p:cNvSpPr>
          <p:nvPr>
            <p:ph type="subTitle" idx="1"/>
          </p:nvPr>
        </p:nvSpPr>
        <p:spPr>
          <a:xfrm>
            <a:off x="2933875" y="2944970"/>
            <a:ext cx="3369900" cy="465900"/>
          </a:xfrm>
          <a:prstGeom prst="rect">
            <a:avLst/>
          </a:prstGeom>
        </p:spPr>
        <p:txBody>
          <a:bodyPr spcFirstLastPara="1" wrap="square" lIns="91425" tIns="91425" rIns="91425" bIns="91425" anchor="t" anchorCtr="0">
            <a:normAutofit fontScale="92500"/>
          </a:bodyPr>
          <a:lstStyle/>
          <a:p>
            <a:pPr marL="0" lvl="0" indent="0" algn="l" rtl="0">
              <a:lnSpc>
                <a:spcPct val="80000"/>
              </a:lnSpc>
              <a:spcBef>
                <a:spcPts val="0"/>
              </a:spcBef>
              <a:spcAft>
                <a:spcPts val="0"/>
              </a:spcAft>
              <a:buNone/>
            </a:pPr>
            <a:r>
              <a:rPr lang="en" sz="2100">
                <a:solidFill>
                  <a:srgbClr val="595959"/>
                </a:solidFill>
                <a:latin typeface="Lato"/>
                <a:ea typeface="Lato"/>
                <a:cs typeface="Lato"/>
                <a:sym typeface="Lato"/>
              </a:rPr>
              <a:t>Minh Truong &amp; Mallie Lange</a:t>
            </a:r>
            <a:endParaRPr/>
          </a:p>
        </p:txBody>
      </p:sp>
      <p:sp>
        <p:nvSpPr>
          <p:cNvPr id="78" name="Google Shape;78;p14"/>
          <p:cNvSpPr txBox="1">
            <a:spLocks noGrp="1"/>
          </p:cNvSpPr>
          <p:nvPr>
            <p:ph type="subTitle" idx="4294967295"/>
          </p:nvPr>
        </p:nvSpPr>
        <p:spPr>
          <a:xfrm>
            <a:off x="3608825" y="132125"/>
            <a:ext cx="1812900" cy="1014300"/>
          </a:xfrm>
          <a:prstGeom prst="rect">
            <a:avLst/>
          </a:prstGeom>
        </p:spPr>
        <p:txBody>
          <a:bodyPr spcFirstLastPara="1" wrap="square" lIns="91425" tIns="91425" rIns="91425" bIns="91425" anchor="t" anchorCtr="0">
            <a:normAutofit fontScale="62500"/>
          </a:bodyPr>
          <a:lstStyle/>
          <a:p>
            <a:pPr marL="0" lvl="0" indent="0" algn="ctr" rtl="0">
              <a:lnSpc>
                <a:spcPct val="100000"/>
              </a:lnSpc>
              <a:spcBef>
                <a:spcPts val="0"/>
              </a:spcBef>
              <a:spcAft>
                <a:spcPts val="0"/>
              </a:spcAft>
              <a:buNone/>
            </a:pPr>
            <a:r>
              <a:rPr lang="en" sz="5400" b="1">
                <a:solidFill>
                  <a:schemeClr val="accent1"/>
                </a:solidFill>
                <a:latin typeface="PT Sans Narrow"/>
                <a:ea typeface="PT Sans Narrow"/>
                <a:cs typeface="PT Sans Narrow"/>
                <a:sym typeface="PT Sans Narrow"/>
              </a:rPr>
              <a:t>Project #2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5"/>
          <p:cNvSpPr txBox="1">
            <a:spLocks noGrp="1"/>
          </p:cNvSpPr>
          <p:nvPr>
            <p:ph type="title"/>
          </p:nvPr>
        </p:nvSpPr>
        <p:spPr>
          <a:xfrm>
            <a:off x="271650" y="200100"/>
            <a:ext cx="8600700" cy="77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Dataset Information + K-Means Clustering  </a:t>
            </a:r>
            <a:endParaRPr/>
          </a:p>
        </p:txBody>
      </p:sp>
      <p:sp>
        <p:nvSpPr>
          <p:cNvPr id="84" name="Google Shape;84;p15"/>
          <p:cNvSpPr txBox="1">
            <a:spLocks noGrp="1"/>
          </p:cNvSpPr>
          <p:nvPr>
            <p:ph type="body" idx="1"/>
          </p:nvPr>
        </p:nvSpPr>
        <p:spPr>
          <a:xfrm>
            <a:off x="311700" y="1266175"/>
            <a:ext cx="4052100" cy="35418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a:t>The dataset was chosen from </a:t>
            </a:r>
            <a:r>
              <a:rPr lang="en" u="sng">
                <a:solidFill>
                  <a:schemeClr val="hlink"/>
                </a:solidFill>
                <a:hlinkClick r:id="rId3"/>
              </a:rPr>
              <a:t>kaggle.com</a:t>
            </a:r>
            <a:r>
              <a:rPr lang="en"/>
              <a:t>.</a:t>
            </a:r>
            <a:endParaRPr/>
          </a:p>
          <a:p>
            <a:pPr marL="0" lvl="0" indent="0" algn="l" rtl="0">
              <a:spcBef>
                <a:spcPts val="1200"/>
              </a:spcBef>
              <a:spcAft>
                <a:spcPts val="0"/>
              </a:spcAft>
              <a:buNone/>
            </a:pPr>
            <a:r>
              <a:rPr lang="en"/>
              <a:t>The World Happiness Report is a survey of global happiness. The six factors are: economic production, social support, life expectancy, freedom, absence of corruption, and generosity.  Each row represents the average scores for that specific country. The overall happiness score (the ladder score) is the sum of six factors and the ‘dystopia + residual’. </a:t>
            </a:r>
            <a:endParaRPr/>
          </a:p>
          <a:p>
            <a:pPr marL="0" lvl="0" indent="0" algn="l" rtl="0">
              <a:spcBef>
                <a:spcPts val="0"/>
              </a:spcBef>
              <a:spcAft>
                <a:spcPts val="0"/>
              </a:spcAft>
              <a:buNone/>
            </a:pPr>
            <a:endParaRPr/>
          </a:p>
          <a:p>
            <a:pPr marL="0" lvl="0" indent="0" algn="l" rtl="0">
              <a:spcBef>
                <a:spcPts val="0"/>
              </a:spcBef>
              <a:spcAft>
                <a:spcPts val="0"/>
              </a:spcAft>
              <a:buNone/>
            </a:pPr>
            <a:r>
              <a:rPr lang="en"/>
              <a:t>We chose to utilize the unsupervised learning method of K-Means clustering to group the countries based on similarities across the multiple factors.</a:t>
            </a:r>
            <a:endParaRPr/>
          </a:p>
          <a:p>
            <a:pPr marL="0" lvl="0" indent="0" algn="l" rtl="0">
              <a:spcBef>
                <a:spcPts val="0"/>
              </a:spcBef>
              <a:spcAft>
                <a:spcPts val="0"/>
              </a:spcAft>
              <a:buNone/>
            </a:pPr>
            <a:endParaRPr/>
          </a:p>
        </p:txBody>
      </p:sp>
      <p:pic>
        <p:nvPicPr>
          <p:cNvPr id="85" name="Google Shape;85;p15" title="Screenshot 2026-04-10 at 6.36.26 PM.png"/>
          <p:cNvPicPr preferRelativeResize="0"/>
          <p:nvPr/>
        </p:nvPicPr>
        <p:blipFill>
          <a:blip r:embed="rId4">
            <a:alphaModFix/>
          </a:blip>
          <a:stretch>
            <a:fillRect/>
          </a:stretch>
        </p:blipFill>
        <p:spPr>
          <a:xfrm>
            <a:off x="5550849" y="1211875"/>
            <a:ext cx="2529800" cy="32897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K-Means Clustering - Elbow Method</a:t>
            </a:r>
            <a:endParaRPr/>
          </a:p>
        </p:txBody>
      </p:sp>
      <p:sp>
        <p:nvSpPr>
          <p:cNvPr id="91" name="Google Shape;91;p16"/>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 sz="1700"/>
              <a:t>Using the Elbow method, we chose three clusters of best grouped countries based on the factors. </a:t>
            </a:r>
            <a:endParaRPr sz="1700"/>
          </a:p>
          <a:p>
            <a:pPr marL="0" lvl="0" indent="0" algn="l" rtl="0">
              <a:spcBef>
                <a:spcPts val="0"/>
              </a:spcBef>
              <a:spcAft>
                <a:spcPts val="0"/>
              </a:spcAft>
              <a:buNone/>
            </a:pPr>
            <a:endParaRPr sz="1700"/>
          </a:p>
          <a:p>
            <a:pPr marL="0" lvl="0" indent="0" algn="l" rtl="0">
              <a:spcBef>
                <a:spcPts val="0"/>
              </a:spcBef>
              <a:spcAft>
                <a:spcPts val="0"/>
              </a:spcAft>
              <a:buNone/>
            </a:pPr>
            <a:r>
              <a:rPr lang="en" sz="1700"/>
              <a:t>The three clusters are: </a:t>
            </a:r>
            <a:endParaRPr sz="1700"/>
          </a:p>
          <a:p>
            <a:pPr marL="457200" lvl="0" indent="-312261" algn="l" rtl="0">
              <a:spcBef>
                <a:spcPts val="0"/>
              </a:spcBef>
              <a:spcAft>
                <a:spcPts val="0"/>
              </a:spcAft>
              <a:buClr>
                <a:srgbClr val="000000"/>
              </a:buClr>
              <a:buSzPct val="100000"/>
              <a:buFont typeface="Arial"/>
              <a:buChar char="●"/>
            </a:pPr>
            <a:r>
              <a:rPr lang="en" sz="1700"/>
              <a:t>High levels of happiness: Countries that are doing really well in terms of strong economies, good healthcare, lots of social support and people feel more free</a:t>
            </a:r>
            <a:endParaRPr sz="1700"/>
          </a:p>
          <a:p>
            <a:pPr marL="457200" lvl="0" indent="-312261" algn="l" rtl="0">
              <a:spcBef>
                <a:spcPts val="0"/>
              </a:spcBef>
              <a:spcAft>
                <a:spcPts val="0"/>
              </a:spcAft>
              <a:buSzPct val="100000"/>
              <a:buChar char="●"/>
            </a:pPr>
            <a:r>
              <a:rPr lang="en" sz="1700"/>
              <a:t>Moderate levels of happiness: Countries that are going okay with a moderate quality of life and mixed results for the features </a:t>
            </a:r>
            <a:endParaRPr sz="1700"/>
          </a:p>
          <a:p>
            <a:pPr marL="457200" lvl="0" indent="-312261" algn="l" rtl="0">
              <a:spcBef>
                <a:spcPts val="0"/>
              </a:spcBef>
              <a:spcAft>
                <a:spcPts val="0"/>
              </a:spcAft>
              <a:buSzPct val="100000"/>
              <a:buChar char="●"/>
            </a:pPr>
            <a:r>
              <a:rPr lang="en" sz="1700"/>
              <a:t>Low levels of happiness: Countries that are not doing very well with lower incomes, weaker healthcare, and less social support</a:t>
            </a:r>
            <a:endParaRPr/>
          </a:p>
        </p:txBody>
      </p:sp>
      <p:pic>
        <p:nvPicPr>
          <p:cNvPr id="92" name="Google Shape;92;p16"/>
          <p:cNvPicPr preferRelativeResize="0"/>
          <p:nvPr/>
        </p:nvPicPr>
        <p:blipFill>
          <a:blip r:embed="rId3">
            <a:alphaModFix/>
          </a:blip>
          <a:stretch>
            <a:fillRect/>
          </a:stretch>
        </p:blipFill>
        <p:spPr>
          <a:xfrm>
            <a:off x="4311600" y="1815350"/>
            <a:ext cx="4638025" cy="25654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7"/>
          <p:cNvSpPr txBox="1">
            <a:spLocks noGrp="1"/>
          </p:cNvSpPr>
          <p:nvPr>
            <p:ph type="title"/>
          </p:nvPr>
        </p:nvSpPr>
        <p:spPr>
          <a:xfrm>
            <a:off x="311700" y="17677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Visualization + Conclusion</a:t>
            </a:r>
            <a:endParaRPr/>
          </a:p>
        </p:txBody>
      </p:sp>
      <p:sp>
        <p:nvSpPr>
          <p:cNvPr id="98" name="Google Shape;98;p17"/>
          <p:cNvSpPr txBox="1">
            <a:spLocks noGrp="1"/>
          </p:cNvSpPr>
          <p:nvPr>
            <p:ph type="body" idx="1"/>
          </p:nvPr>
        </p:nvSpPr>
        <p:spPr>
          <a:xfrm>
            <a:off x="199900" y="827302"/>
            <a:ext cx="3894000" cy="14898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a:t>The scatter plot shows countries grouped into three clusters based on their log GDP per capita  and social support, with each color representing one of the clusters. This scatterplot is one example of how the countries naturally are clustered.</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99" name="Google Shape;99;p17"/>
          <p:cNvPicPr preferRelativeResize="0"/>
          <p:nvPr/>
        </p:nvPicPr>
        <p:blipFill>
          <a:blip r:embed="rId3">
            <a:alphaModFix/>
          </a:blip>
          <a:stretch>
            <a:fillRect/>
          </a:stretch>
        </p:blipFill>
        <p:spPr>
          <a:xfrm>
            <a:off x="152400" y="2461325"/>
            <a:ext cx="4335321" cy="2529776"/>
          </a:xfrm>
          <a:prstGeom prst="rect">
            <a:avLst/>
          </a:prstGeom>
          <a:noFill/>
          <a:ln>
            <a:noFill/>
          </a:ln>
        </p:spPr>
      </p:pic>
      <p:pic>
        <p:nvPicPr>
          <p:cNvPr id="100" name="Google Shape;100;p17"/>
          <p:cNvPicPr preferRelativeResize="0"/>
          <p:nvPr/>
        </p:nvPicPr>
        <p:blipFill>
          <a:blip r:embed="rId4">
            <a:alphaModFix/>
          </a:blip>
          <a:stretch>
            <a:fillRect/>
          </a:stretch>
        </p:blipFill>
        <p:spPr>
          <a:xfrm>
            <a:off x="4959027" y="2510389"/>
            <a:ext cx="3633579" cy="2529774"/>
          </a:xfrm>
          <a:prstGeom prst="rect">
            <a:avLst/>
          </a:prstGeom>
          <a:noFill/>
          <a:ln>
            <a:noFill/>
          </a:ln>
        </p:spPr>
      </p:pic>
      <p:sp>
        <p:nvSpPr>
          <p:cNvPr id="101" name="Google Shape;101;p17"/>
          <p:cNvSpPr txBox="1">
            <a:spLocks noGrp="1"/>
          </p:cNvSpPr>
          <p:nvPr>
            <p:ph type="body" idx="1"/>
          </p:nvPr>
        </p:nvSpPr>
        <p:spPr>
          <a:xfrm>
            <a:off x="4757550" y="819125"/>
            <a:ext cx="4041300" cy="148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a:t>The bar chart validates the cluster labels by comparing average ladder scores, where Cluster 1 ranks highest (~6.95), Cluster 0 falls in the middle (~5.95), and Cluster 2 ranks lowest (~4.25). Using K-Means clustering with k=3, 143 countries were grouped into three happiness segments: high, medium, and low, with GDP per capita and social support identified as the primary differentiating factors.</a:t>
            </a:r>
            <a:endParaRPr sz="1100"/>
          </a:p>
        </p:txBody>
      </p:sp>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568</Words>
  <Application>Microsoft Macintosh PowerPoint</Application>
  <PresentationFormat>On-screen Show (16:9)</PresentationFormat>
  <Paragraphs>23</Paragraphs>
  <Slides>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Lato</vt:lpstr>
      <vt:lpstr>Arial</vt:lpstr>
      <vt:lpstr>PT Sans Narrow</vt:lpstr>
      <vt:lpstr>Open Sans</vt:lpstr>
      <vt:lpstr>Inter Light</vt:lpstr>
      <vt:lpstr>Inter</vt:lpstr>
      <vt:lpstr>Tropic</vt:lpstr>
      <vt:lpstr> World Happiness Report K-Means Clustering </vt:lpstr>
      <vt:lpstr>Dataset Information + K-Means Clustering  </vt:lpstr>
      <vt:lpstr>K-Means Clustering - Elbow Method</vt:lpstr>
      <vt:lpstr>Visualization +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Minh Truong</cp:lastModifiedBy>
  <cp:revision>1</cp:revision>
  <dcterms:modified xsi:type="dcterms:W3CDTF">2026-04-15T03:41:16Z</dcterms:modified>
</cp:coreProperties>
</file>